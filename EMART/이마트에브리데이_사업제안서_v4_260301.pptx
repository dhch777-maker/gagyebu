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2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 지수</c:v>
                </c:pt>
              </c:strCache>
            </c:strRef>
          </c:tx>
          <c:spPr>
            <a:solidFill>
              <a:srgbClr val="1f6bba"/>
            </a:solidFill>
            <a:ln w="25400" cap="flat" cmpd="sng">
              <a:solidFill>
                <a:srgbClr val="ffd20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fd200"/>
              </a:solidFill>
              <a:ln w="9525" cap="flat" cmpd="sng">
                <a:solidFill>
                  <a:srgbClr val="1f6bba"/>
                </a:solidFill>
                <a:prstDash val="solid"/>
                <a:round/>
              </a:ln>
              <a:effectLst/>
            </c:spPr>
          </c:marker>
          <c:dPt>
            <c:idx val="0"/>
            <c:invertIfNegative val="0"/>
            <c:bubble3D val="0"/>
            <c:spPr/>
          </c:dPt>
          <c:dPt>
            <c:idx val="1"/>
            <c:invertIfNegative val="0"/>
            <c:bubble3D val="0"/>
            <c:spPr/>
          </c:dPt>
          <c:dPt>
            <c:idx val="2"/>
            <c:invertIfNegative val="0"/>
            <c:bubble3D val="0"/>
            <c:spPr/>
          </c:dPt>
          <c:dPt>
            <c:idx val="3"/>
            <c:invertIfNegative val="0"/>
            <c:bubble3D val="0"/>
            <c:spPr/>
          </c:dPt>
          <c:dPt>
            <c:idx val="4"/>
            <c:invertIfNegative val="0"/>
            <c:bubble3D val="0"/>
            <c:spPr/>
          </c:dPt>
          <c:dLbls>
            <c:delete val="0"/>
            <c:numFmt formatCode="#,##0" sourceLinked="0"/>
            <c:txPr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85</c:v>
                </c:pt>
                <c:pt idx="3">
                  <c:v>80</c:v>
                </c:pt>
                <c:pt idx="4">
                  <c:v>73</c:v>
                </c:pt>
              </c:numCache>
            </c:numRef>
          </c:val>
          <c:smooth val="0"/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200" b="0" i="0" u="non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70"/>
        </c:scaling>
        <c:axPos val="l"/>
        <c:crossAx val="2094734554"/>
        <c:delete val="0"/>
        <c:majorGridlines>
          <c:spPr>
            <a:ln w="1270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>
          <a:ea typeface="LG Smart UI Bold"/>
          <a:cs typeface="LG Smart UI Bold"/>
          <a:sym typeface="LG Smart UI Bold"/>
        </a:defRPr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수수료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invertIfNegative val="0"/>
            <c:bubble3D val="0"/>
            <c:spPr>
              <a:solidFill>
                <a:srgbClr val="ffd2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elete val="0"/>
            <c:numFmt formatCode="General" sourceLinked="0"/>
            <c:txPr>
              <a:bodyPr rot="0" vert="horz" wrap="none" lIns="0" tIns="0" rIns="0" bIns="0" anchor="ctr" anchorCtr="1"/>
              <a:p>
                <a:pPr algn="l">
                  <a:defRPr sz="18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수수료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chart" Target="../charts/char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chart" Target="../charts/char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Relationship Id="rId6" Type="http://schemas.openxmlformats.org/officeDocument/2006/relationships/image" Target="../media/image2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Relationship Id="rId6" Type="http://schemas.openxmlformats.org/officeDocument/2006/relationships/image" Target="../media/image33.png"  /><Relationship Id="rId7" Type="http://schemas.openxmlformats.org/officeDocument/2006/relationships/image" Target="../media/image3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5.png"  /><Relationship Id="rId4" Type="http://schemas.openxmlformats.org/officeDocument/2006/relationships/image" Target="../media/image36.png"  /><Relationship Id="rId5" Type="http://schemas.openxmlformats.org/officeDocument/2006/relationships/image" Target="../media/image37.png"  /><Relationship Id="rId6" Type="http://schemas.openxmlformats.org/officeDocument/2006/relationships/image" Target="../media/image3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42.png"  /><Relationship Id="rId7" Type="http://schemas.openxmlformats.org/officeDocument/2006/relationships/image" Target="../media/image4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_cover_b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175140" y="1828800"/>
            <a:ext cx="4324470" cy="219456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51515"/>
                </a:solidFill>
                <a:latin typeface="LG Smart UI Bold"/>
                <a:ea typeface="LG Smart UI Bold"/>
              </a:rPr>
              <a:t>지역 기반 공동구매 물류 거점 제안</a:t>
            </a:r>
            <a:endParaRPr lang="en-US" sz="2600" b="1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0" indent="0" algn="l">
              <a:buNone/>
              <a:defRPr/>
            </a:pPr>
            <a:r>
              <a:rPr lang="en-US" sz="1200" b="0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 방문 유입 및 추가 수익 창출 모델</a:t>
            </a:r>
            <a:endParaRPr lang="en-US" sz="2800">
              <a:latin typeface="LG Smart UI Bold"/>
              <a:ea typeface="LG Smart UI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defRPr/>
            </a:pPr>
            <a:r>
              <a:rPr sz="1000" b="1">
                <a:solidFill>
                  <a:srgbClr val="ffd200"/>
                </a:solidFill>
                <a:latin typeface="Consolas"/>
              </a:rPr>
              <a:t>EMART EVERYDAY   ·   PROPOSAL   ·   2026.03</a:t>
            </a:r>
            <a:endParaRPr sz="1000" b="1">
              <a:solidFill>
                <a:srgbClr val="ffd20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4048" y="1600200"/>
            <a:ext cx="548640" cy="36576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384048" y="4206240"/>
            <a:ext cx="731520" cy="2743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오프라인 점포 매출 환경 변화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온라인 커머스 확장으로 오프라인 방문 감소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가격 비교 문화 확대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단순 매대 중심 상품으로는 차별화 한계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지역 점포의 신규 방문 유도 전략 필요</a:t>
            </a:r>
            <a:endParaRPr lang="en-US" sz="17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46320" y="1371600"/>
          <a:ext cx="3840480" cy="228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867912"/>
            <a:ext cx="75895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점포에 다시 방문할 이유를 만드는 구조가 필요합니다.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지역 공동구매 수령 거점 모델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" y="2249424"/>
            <a:ext cx="548640" cy="438912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411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모집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943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2225040"/>
            <a:ext cx="548640" cy="4876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697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진행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229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20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6400" y="2249424"/>
            <a:ext cx="548640" cy="438912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515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2400" y="2225040"/>
            <a:ext cx="548640" cy="48768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7269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3914775"/>
            <a:ext cx="822960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>
                <a:solidFill>
                  <a:srgbClr val="666666"/>
                </a:solidFill>
                <a:latin typeface="LG Smart UI Bold"/>
                <a:ea typeface="LG Smart UI Bold"/>
              </a:rPr>
              <a:t>“</a:t>
            </a:r>
            <a:r>
              <a:rPr lang="en-US">
                <a:solidFill>
                  <a:srgbClr val="666666"/>
                </a:solidFill>
                <a:latin typeface="LG Smart UI Bold"/>
                <a:ea typeface="LG Smart UI Bold"/>
              </a:rPr>
              <a:t>이마트 에브리데이 점포를 지역 공동구매 상품의 수령 거점으로 활용</a:t>
            </a:r>
            <a:r>
              <a:rPr lang="en-US" altLang="ko-KR">
                <a:solidFill>
                  <a:srgbClr val="666666"/>
                </a:solidFill>
                <a:latin typeface="LG Smart UI Bold"/>
                <a:ea typeface="LG Smart UI Bold"/>
              </a:rPr>
              <a:t>”</a:t>
            </a:r>
            <a:endParaRPr lang="en-US" altLang="ko-KR">
              <a:solidFill>
                <a:srgbClr val="666666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점포에 제공되는 직접 수익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공동구매 판매 금액의 5% 수수료 지급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별도 인력 투입 없음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기존 공간 활용</a:t>
            </a:r>
            <a:endParaRPr lang="en-US" sz="17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57966" y="914400"/>
          <a:ext cx="3657600" cy="2286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57966" y="3291840"/>
          <a:ext cx="3657600" cy="91440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828800"/>
              </a:tblGrid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항목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수치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1회 공구 매출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1,000만원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점포 수수료 (5%)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50만원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19" y="35661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3584448"/>
            <a:ext cx="3840480" cy="6035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추가 고정비 없이 발생하는 순수 수익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방문 증가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910080"/>
            <a:ext cx="640080" cy="56896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수령 필수 방문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공동구매 수령을 위해 </a:t>
            </a:r>
            <a:endParaRPr lang="en-US" sz="1200">
              <a:solidFill>
                <a:srgbClr val="666666"/>
              </a:solidFill>
              <a:latin typeface="LG Smart UI Bold"/>
              <a:ea typeface="LG Smart UI Bold"/>
            </a:endParaRPr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방문이 필수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26205" y="1874520"/>
            <a:ext cx="560070" cy="6400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33832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추가 구매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3832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방문 중 추가 구매 가능성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1874520"/>
            <a:ext cx="640080" cy="64008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재유입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264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재유입 효과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22960" y="4065629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 algn="ctr"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14400" y="4083917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공동구매는 매출 이전에 방문 유입 전략입니다.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기존 공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동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구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매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 모델과의 차이</a:t>
            </a:r>
            <a:endParaRPr lang="en-US" sz="2000" b="1">
              <a:solidFill>
                <a:srgbClr val="002b5b"/>
              </a:solidFill>
              <a:latin typeface="LG Smart UI Bold"/>
              <a:ea typeface="LG Smart UI Bold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기존 공</a:t>
                      </a:r>
                      <a:r>
                        <a:rPr lang="ko-KR" alt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동구매</a:t>
                      </a:r>
                      <a:endParaRPr lang="ko-KR" altLang="en-US" sz="1500" b="1">
                        <a:solidFill>
                          <a:srgbClr val="ffffff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제안 모델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공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   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간</a:t>
                      </a:r>
                      <a:endParaRPr lang="en-US" sz="1500" b="1">
                        <a:solidFill>
                          <a:srgbClr val="000000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임대 공간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활용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인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   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력</a:t>
                      </a:r>
                      <a:endParaRPr lang="en-US" sz="1500" b="1">
                        <a:solidFill>
                          <a:srgbClr val="000000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상주 인력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수령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택배비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개별 택배비 발생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일괄 납품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운영비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부담 큼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수수료 기반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402717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 sz="1700" i="1">
                <a:solidFill>
                  <a:srgbClr val="666666"/>
                </a:solidFill>
                <a:latin typeface="LG Smart UI Bold"/>
                <a:ea typeface="LG Smart UI Bold"/>
              </a:rPr>
              <a:t>“</a:t>
            </a:r>
            <a:r>
              <a:rPr lang="en-US" sz="1700" i="1">
                <a:solidFill>
                  <a:srgbClr val="666666"/>
                </a:solidFill>
                <a:latin typeface="LG Smart UI Bold"/>
                <a:ea typeface="LG Smart UI Bold"/>
              </a:rPr>
              <a:t>점포 유휴 공간을 활용한 비용 최소화 모델</a:t>
            </a:r>
            <a:r>
              <a:rPr lang="en-US" altLang="ko-KR" sz="1700" i="1">
                <a:solidFill>
                  <a:srgbClr val="666666"/>
                </a:solidFill>
                <a:latin typeface="LG Smart UI Bold"/>
                <a:ea typeface="LG Smart UI Bold"/>
              </a:rPr>
              <a:t>”</a:t>
            </a:r>
            <a:endParaRPr lang="en-US" altLang="ko-KR" sz="1700" i="1">
              <a:solidFill>
                <a:srgbClr val="666666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소비자 참여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6759" y="1943099"/>
            <a:ext cx="1028556" cy="1028556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8695" y="2225040"/>
            <a:ext cx="548640" cy="48768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53149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방문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84594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392679" y="1943099"/>
            <a:ext cx="1028556" cy="1028556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668905" y="2194560"/>
            <a:ext cx="480060" cy="54864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17741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QR 스캔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49186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038599" y="1943099"/>
            <a:ext cx="1028556" cy="1028556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280535" y="2148840"/>
            <a:ext cx="548640" cy="54864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382333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채널 구독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13778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684519" y="1943099"/>
            <a:ext cx="1028556" cy="1028556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995035" y="2194560"/>
            <a:ext cx="411480" cy="54864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546925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신청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78370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330439" y="1943099"/>
            <a:ext cx="1028556" cy="1028556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606665" y="2194560"/>
            <a:ext cx="480060" cy="548640"/>
          </a:xfrm>
          <a:prstGeom prst="rect">
            <a:avLst/>
          </a:prstGeom>
          <a:ln/>
        </p:spPr>
      </p:pic>
      <p:sp>
        <p:nvSpPr>
          <p:cNvPr id="21" name="Text 14"/>
          <p:cNvSpPr/>
          <p:nvPr/>
        </p:nvSpPr>
        <p:spPr>
          <a:xfrm>
            <a:off x="711517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14400" y="396049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005840" y="3978783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온라인 유입 → 오프라인 방문 연결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공동구매 상품 전략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2030" y="170116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27760" y="1792605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550670" y="1609725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30~40% 할인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0670" y="1975485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시중가 대비 30~40% 할인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006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16830" y="170116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42560" y="1792605"/>
            <a:ext cx="20574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665470" y="1609725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차별화 상품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65470" y="1975485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대기업 브랜드 중심이 아닌 차별화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85800" y="2779395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02030" y="3017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27760" y="3108960"/>
            <a:ext cx="20574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550670" y="29260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선공개·지역 한정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550670" y="32918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선공개 / 지역 한정 상품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00600" y="2779395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116830" y="3017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08270" y="3124200"/>
            <a:ext cx="274320" cy="24384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665470" y="29260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자체 기획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665470" y="32918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자체 기획 상품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14400" y="426529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60120" y="4283583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가격 경쟁이 아닌 차별화 상품 중심 전략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운영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30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7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8606" y="2029968"/>
            <a:ext cx="246888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21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수량 확정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17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16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73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83458" y="2062886"/>
            <a:ext cx="329184" cy="263347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07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03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02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59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69458" y="2048256"/>
            <a:ext cx="329184" cy="292608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093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589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288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45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855458" y="2048256"/>
            <a:ext cx="329184" cy="292608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379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5% 정산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382714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3845433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 운영 부담 최소화 설계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부담 최소화 설계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0485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29690" y="17202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21130" y="1839087"/>
            <a:ext cx="274320" cy="219456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878330" y="160134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설명 인력 불필요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78330" y="193052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QR 코드 안내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1965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44490" y="17202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53075" y="1811655"/>
            <a:ext cx="24003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993130" y="160134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QR 안내 구조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93130" y="193052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QR 활용 절차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0485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329690" y="327469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21130" y="3366135"/>
            <a:ext cx="27432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878330" y="315582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단순 수령 확인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878330" y="348500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수령 확인 방식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1965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44490" y="327469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553075" y="3366135"/>
            <a:ext cx="24003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993130" y="315582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993130" y="348500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단기 테스트 운영 가능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파일럿 운영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2688" y="2143506"/>
            <a:ext cx="329184" cy="292608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365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3~5개 점포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57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51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08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18688" y="2143506"/>
            <a:ext cx="329184" cy="292608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651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1~2개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43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37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394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25262" y="2125218"/>
            <a:ext cx="288036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4937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3개월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629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223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80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90688" y="2125218"/>
            <a:ext cx="329184" cy="329184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223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데이터 검증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37414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37597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리스크 없는 실험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57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28980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4710" y="1887855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477620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방문 증가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77620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 증가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289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72180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63620" y="1887855"/>
            <a:ext cx="27432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4220821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수익 확대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220821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점주 수익 확대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721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15381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506821" y="1915287"/>
            <a:ext cx="274320" cy="219456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6964021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재활성화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964021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재활성화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5775" y="287083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8980" y="325945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20420" y="3350895"/>
            <a:ext cx="27432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1477620" y="312229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마케팅 절감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477620" y="344233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마케팅 비용 절감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28975" y="287083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672180" y="325945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763620" y="3350895"/>
            <a:ext cx="274320" cy="274320"/>
          </a:xfrm>
          <a:prstGeom prst="rect">
            <a:avLst/>
          </a:prstGeom>
          <a:ln/>
        </p:spPr>
      </p:pic>
      <p:sp>
        <p:nvSpPr>
          <p:cNvPr id="26" name="Text 19"/>
          <p:cNvSpPr/>
          <p:nvPr/>
        </p:nvSpPr>
        <p:spPr>
          <a:xfrm>
            <a:off x="4220821" y="312229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경쟁력 강화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220821" y="344233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경쟁력 강화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리스크 대응 방안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429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372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67562" y="2029968"/>
            <a:ext cx="288036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4800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초기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00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초기 테스트 운영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527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470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56788" y="2029968"/>
            <a:ext cx="329184" cy="329184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6898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판매 부진시 종료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684648" y="2788920"/>
            <a:ext cx="1626366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판매 부진 시 종료 가능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815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3759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5638" y="2029968"/>
            <a:ext cx="329184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49187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사은품 남용 방지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9187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사은품 남용 방지 설계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9532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5476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57338" y="2062886"/>
            <a:ext cx="329184" cy="263347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0904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운영 간소화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0904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점포 운영 간소화</a:t>
            </a:r>
            <a:endParaRPr lang="en-US" sz="13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에브리데이와의 협력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792" y="1456944"/>
            <a:ext cx="219456" cy="195072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05840" y="13990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유휴 역량을 활용한 추가 수익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9224" y="2130552"/>
            <a:ext cx="164592" cy="219456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1005840" y="20848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방문 유입 중심 구조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1792" y="2828544"/>
            <a:ext cx="219456" cy="195072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1005840" y="27706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비용 부담 최소화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375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1792" y="3502152"/>
            <a:ext cx="219456" cy="219456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005840" y="34564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파일럿을 통한 검증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58000" y="1965960"/>
            <a:ext cx="1371600" cy="1097280"/>
          </a:xfrm>
          <a:prstGeom prst="rect">
            <a:avLst/>
          </a:prstGeom>
          <a:ln/>
        </p:spPr>
      </p:pic>
      <p:sp>
        <p:nvSpPr>
          <p:cNvPr id="21" name="Shape 14"/>
          <p:cNvSpPr/>
          <p:nvPr/>
        </p:nvSpPr>
        <p:spPr>
          <a:xfrm>
            <a:off x="457200" y="4063712"/>
            <a:ext cx="8229600" cy="662796"/>
          </a:xfrm>
          <a:prstGeom prst="roundRect">
            <a:avLst>
              <a:gd name="adj" fmla="val 1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 sz="1400" b="1">
                <a:solidFill>
                  <a:srgbClr val="151515"/>
                </a:solidFill>
                <a:latin typeface="LG Smart UI Bold"/>
                <a:ea typeface="LG Smart UI Bold"/>
              </a:rPr>
              <a:t>“</a:t>
            </a: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점포에 실질적 이익을 제공하는 구조를 제안드립니다.</a:t>
            </a:r>
            <a:r>
              <a:rPr lang="en-US" altLang="ko-KR" sz="1400" b="1">
                <a:solidFill>
                  <a:srgbClr val="151515"/>
                </a:solidFill>
                <a:latin typeface="LG Smart UI Bold"/>
                <a:ea typeface="LG Smart UI Bold"/>
              </a:rPr>
              <a:t>”</a:t>
            </a:r>
            <a:endParaRPr lang="en-US" altLang="ko-KR" sz="1400" b="1">
              <a:solidFill>
                <a:srgbClr val="151515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383</ep:Words>
  <ep:PresentationFormat>On-screen Show (16:9)</ep:PresentationFormat>
  <ep:Paragraphs>95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2026-03-01T12:12:56.000</dcterms:created>
  <dc:creator>PptxGenJS</dc:creator>
  <cp:lastModifiedBy>dhchd</cp:lastModifiedBy>
  <dcterms:modified xsi:type="dcterms:W3CDTF">2026-04-20T12:11:46.665</dcterms:modified>
  <cp:revision>8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