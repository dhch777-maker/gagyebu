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 지수</c:v>
                </c:pt>
              </c:strCache>
            </c:strRef>
          </c:tx>
          <c:spPr>
            <a:ln w="38100">
              <a:solidFill>
                <a:srgbClr val="E60012"/>
              </a:solidFill>
            </a:ln>
          </c:spPr>
          <c:marker>
            <c:size val="8"/>
            <c:spPr>
              <a:solidFill>
                <a:srgbClr val="E60012"/>
              </a:solidFill>
              <a:ln>
                <a:solidFill>
                  <a:srgbClr val="E60012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92</c:v>
                </c:pt>
                <c:pt idx="2">
                  <c:v>85</c:v>
                </c:pt>
                <c:pt idx="3">
                  <c:v>80</c:v>
                </c:pt>
                <c:pt idx="4">
                  <c:v>73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100" b="1">
                  <a:solidFill>
                    <a:srgbClr val="1A1A1A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비율</c:v>
                </c:pt>
              </c:strCache>
            </c:strRef>
          </c:tx>
          <c:dPt>
            <c:idx val="0"/>
            <c:spPr>
              <a:solidFill>
                <a:srgbClr val="E60012"/>
              </a:solidFill>
            </c:spPr>
          </c:dPt>
          <c:dPt>
            <c:idx val="1"/>
            <c:spPr>
              <a:solidFill>
                <a:srgbClr val="F5F5F5"/>
              </a:solidFill>
            </c:spPr>
          </c:dPt>
          <c:cat>
            <c:strRef>
              <c:f>Sheet1!$A$2:$A$3</c:f>
              <c:strCache>
                <c:ptCount val="2"/>
                <c:pt idx="0">
                  <c:v>수수료 (5%)</c:v>
                </c:pt>
                <c:pt idx="1">
                  <c:v>나머지 (95%)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</c:v>
                </c:pt>
                <c:pt idx="1">
                  <c:v>95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06240"/>
            <a:ext cx="1371600" cy="9144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D200"/>
                </a:solidFill>
                <a:latin typeface="Pretendard"/>
              </a:rPr>
              <a:t>EMART EVERYDAY  ×  사업제안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>
                <a:solidFill>
                  <a:srgbClr val="FFFFFF"/>
                </a:solidFill>
                <a:latin typeface="Pretendard"/>
              </a:rPr>
              <a:t>매일, 동네가 모이는 거점.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FFFFFF"/>
                </a:solidFill>
                <a:latin typeface="Pretendard"/>
              </a:rPr>
              <a:t>이마트 에브리데이 점포를 지역 공동구매 수령 거점으로.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FFFFFF"/>
                </a:solidFill>
                <a:latin typeface="Pretendard"/>
              </a:rPr>
              <a:t>고정비 0원, 방문 유입 상시, 수익은 자동.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Pretendard"/>
              </a:rPr>
              <a:t>지역 기반 공동구매 물류 거점 제안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257800"/>
            <a:ext cx="548640" cy="3657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4864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제안사  ·  제안사명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제안일  ·  2026. 03.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1264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담당자  ·  010-0000-0000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36815" y="5486400"/>
            <a:ext cx="4023360" cy="1005840"/>
          </a:xfrm>
          <a:prstGeom prst="roundRect">
            <a:avLst>
              <a:gd name="adj" fmla="val 25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8255" y="55778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60012"/>
                </a:solidFill>
                <a:latin typeface="Pretendard"/>
              </a:rPr>
              <a:t># 매일_방문_이유   # 동네_거점   # 수수료_5%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8255" y="594360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Pretendard"/>
              </a:rPr>
              <a:t>에브리데이에 가장 잘 어울리는 제안서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27432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666666"/>
                </a:solidFill>
                <a:latin typeface="Pretendard"/>
              </a:rPr>
              <a:t>EMART EVERYDAY  ·  사업제안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>
                <a:solidFill>
                  <a:srgbClr val="E60012"/>
                </a:solidFill>
                <a:latin typeface="Pretendard"/>
              </a:rPr>
              <a:t>02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Pretendard"/>
              </a:rPr>
              <a:t>오프라인이 흔들리는 시간.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Pretendard"/>
              </a:rPr>
              <a:t>온라인 커머스 확장 · 가격 비교 문화 · 매대 중심 차별화 한계. 지역 점포는 신규 방문 이유가 필요하다.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36192"/>
            <a:ext cx="457200" cy="3657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0012"/>
                </a:solidFill>
                <a:latin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16712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Pretendard"/>
              </a:rPr>
              <a:t>온라인 커머스 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146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오프라인 방문 수 구조적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0012"/>
                </a:solidFill>
                <a:latin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4436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Pretendard"/>
              </a:rPr>
              <a:t>가격 비교 문화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매장 선택권이 온라인으로 이동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0332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0012"/>
                </a:solidFill>
                <a:latin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Pretendard"/>
              </a:rPr>
              <a:t>매대 중심의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69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단순 진열로는 차별화 불가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4805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0012"/>
                </a:solidFill>
                <a:latin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49884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Pretendard"/>
              </a:rPr>
              <a:t>지역 점포의 과제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8463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신규 방문 이유 설계 필요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1828800"/>
            <a:ext cx="6035040" cy="4297680"/>
          </a:xfrm>
          <a:prstGeom prst="roundRect">
            <a:avLst>
              <a:gd name="adj" fmla="val 5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Pretendard"/>
              </a:rPr>
              <a:t>오프라인 점포 방문 지수 (2021=100)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217920" y="2286000"/>
          <a:ext cx="56692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217920" y="61264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60012"/>
                </a:solidFill>
                <a:latin typeface="Pretendard"/>
              </a:rPr>
              <a:t>→ 점포에 다시 방문할 이유를 만드는 구조가 필요합니다.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66666"/>
                </a:solidFill>
                <a:latin typeface="Pretendard"/>
              </a:rPr>
              <a:t>이마트 에브리데이 사업제안서  ·  2026.03.01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27432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666666"/>
                </a:solidFill>
                <a:latin typeface="Pretendard"/>
              </a:rPr>
              <a:t>EMART EVERYDAY  ·  사업제안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>
                <a:solidFill>
                  <a:srgbClr val="E60012"/>
                </a:solidFill>
                <a:latin typeface="Pretendard"/>
              </a:rPr>
              <a:t>03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Pretendard"/>
              </a:rPr>
              <a:t>매대 옆, 수령대 하나.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Pretendard"/>
              </a:rPr>
              <a:t>이마트 에브리데이 점포 유휴 공간을 지역 공동구매 수령 거점으로 활용하는 모델.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36192"/>
            <a:ext cx="457200" cy="3657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286000"/>
            <a:ext cx="237744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2377440" cy="7315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5603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0012"/>
                </a:solidFill>
                <a:latin typeface="Pretendard"/>
              </a:rPr>
              <a:t>01</a:t>
            </a:r>
          </a:p>
        </p:txBody>
      </p:sp>
      <p:sp>
        <p:nvSpPr>
          <p:cNvPr id="12" name="Oval 11"/>
          <p:cNvSpPr/>
          <p:nvPr/>
        </p:nvSpPr>
        <p:spPr>
          <a:xfrm>
            <a:off x="1554480" y="3017520"/>
            <a:ext cx="822960" cy="822960"/>
          </a:xfrm>
          <a:prstGeom prst="ellipse">
            <a:avLst/>
          </a:prstGeom>
          <a:solidFill>
            <a:srgbClr val="FFE5E8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017520"/>
            <a:ext cx="822960" cy="8229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60012"/>
                </a:solidFill>
                <a:latin typeface="Pretendard"/>
              </a:rPr>
              <a:t>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114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Pretendard"/>
              </a:rPr>
              <a:t>소비자 모집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7200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지역 채널 기반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온라인 모집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286000"/>
            <a:ext cx="2377440" cy="292608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3154680" y="3611880"/>
            <a:ext cx="274320" cy="274320"/>
          </a:xfrm>
          <a:prstGeom prst="rightArrow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74720" y="2286000"/>
            <a:ext cx="237744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0" y="2286000"/>
            <a:ext cx="2377440" cy="7315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0" y="25603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0012"/>
                </a:solidFill>
                <a:latin typeface="Pretendard"/>
              </a:rPr>
              <a:t>02</a:t>
            </a:r>
          </a:p>
        </p:txBody>
      </p:sp>
      <p:sp>
        <p:nvSpPr>
          <p:cNvPr id="21" name="Oval 20"/>
          <p:cNvSpPr/>
          <p:nvPr/>
        </p:nvSpPr>
        <p:spPr>
          <a:xfrm>
            <a:off x="4297680" y="3017520"/>
            <a:ext cx="822960" cy="822960"/>
          </a:xfrm>
          <a:prstGeom prst="ellipse">
            <a:avLst/>
          </a:prstGeom>
          <a:solidFill>
            <a:srgbClr val="FFE5E8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3017520"/>
            <a:ext cx="822960" cy="8229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60012"/>
                </a:solidFill>
                <a:latin typeface="Pretendard"/>
              </a:rPr>
              <a:t>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114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Pretendard"/>
              </a:rPr>
              <a:t>공동구매 진행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57200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가격·수량 확정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주문 마감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74720" y="2286000"/>
            <a:ext cx="2377440" cy="292608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5897880" y="3611880"/>
            <a:ext cx="274320" cy="274320"/>
          </a:xfrm>
          <a:prstGeom prst="rightArrow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17920" y="2286000"/>
            <a:ext cx="237744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2286000"/>
            <a:ext cx="2377440" cy="7315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25603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0012"/>
                </a:solidFill>
                <a:latin typeface="Pretendard"/>
              </a:rPr>
              <a:t>03</a:t>
            </a:r>
          </a:p>
        </p:txBody>
      </p:sp>
      <p:sp>
        <p:nvSpPr>
          <p:cNvPr id="30" name="Oval 29"/>
          <p:cNvSpPr/>
          <p:nvPr/>
        </p:nvSpPr>
        <p:spPr>
          <a:xfrm>
            <a:off x="7040880" y="3017520"/>
            <a:ext cx="822960" cy="822960"/>
          </a:xfrm>
          <a:prstGeom prst="ellipse">
            <a:avLst/>
          </a:prstGeom>
          <a:solidFill>
            <a:srgbClr val="FFE5E8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0" y="3017520"/>
            <a:ext cx="822960" cy="8229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60012"/>
                </a:solidFill>
                <a:latin typeface="Pretendard"/>
              </a:rPr>
              <a:t>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114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Pretendard"/>
              </a:rPr>
              <a:t>점포 납품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57200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일괄 납품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별도 택배 없음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2286000"/>
            <a:ext cx="2377440" cy="292608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ight Arrow 34"/>
          <p:cNvSpPr/>
          <p:nvPr/>
        </p:nvSpPr>
        <p:spPr>
          <a:xfrm>
            <a:off x="8641080" y="3611880"/>
            <a:ext cx="274320" cy="274320"/>
          </a:xfrm>
          <a:prstGeom prst="rightArrow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61120" y="2286000"/>
            <a:ext cx="237744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61120" y="2286000"/>
            <a:ext cx="2377440" cy="7315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35440" y="25603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0012"/>
                </a:solidFill>
                <a:latin typeface="Pretendard"/>
              </a:rPr>
              <a:t>04</a:t>
            </a:r>
          </a:p>
        </p:txBody>
      </p:sp>
      <p:sp>
        <p:nvSpPr>
          <p:cNvPr id="39" name="Oval 38"/>
          <p:cNvSpPr/>
          <p:nvPr/>
        </p:nvSpPr>
        <p:spPr>
          <a:xfrm>
            <a:off x="9784080" y="3017520"/>
            <a:ext cx="822960" cy="822960"/>
          </a:xfrm>
          <a:prstGeom prst="ellipse">
            <a:avLst/>
          </a:prstGeom>
          <a:solidFill>
            <a:srgbClr val="FFE5E8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84080" y="3017520"/>
            <a:ext cx="822960" cy="8229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60012"/>
                </a:solidFill>
                <a:latin typeface="Pretendard"/>
              </a:rPr>
              <a:t>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4114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Pretendard"/>
              </a:rPr>
              <a:t>소비자 수령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457200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QR 확인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점포에서 픽업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61120" y="2286000"/>
            <a:ext cx="2377440" cy="292608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6692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0012"/>
                </a:solidFill>
                <a:latin typeface="Pretendard"/>
              </a:rPr>
              <a:t>→ 이마트 에브리데이 점포를 지역 공동구매 상품의 수령 거점으로 활용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66666"/>
                </a:solidFill>
                <a:latin typeface="Pretendard"/>
              </a:rPr>
              <a:t>이마트 에브리데이 사업제안서  ·  2026.03.01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27432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666666"/>
                </a:solidFill>
                <a:latin typeface="Pretendard"/>
              </a:rPr>
              <a:t>EMART EVERYDAY  ·  사업제안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>
                <a:solidFill>
                  <a:srgbClr val="E60012"/>
                </a:solidFill>
                <a:latin typeface="Pretendard"/>
              </a:rPr>
              <a:t>04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Pretendard"/>
              </a:rPr>
              <a:t>고정비 0원, 수수료 5%.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Pretendard"/>
              </a:rPr>
              <a:t>공동구매 판매 금액의 5%를 점포 수수료로 지급. 별도 인력·공간 투입 없이 발생하는 순수 수익.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36192"/>
            <a:ext cx="457200" cy="3657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194560"/>
            <a:ext cx="5029200" cy="3657600"/>
          </a:xfrm>
          <a:prstGeom prst="roundRect">
            <a:avLst>
              <a:gd name="adj" fmla="val 4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D200"/>
                </a:solidFill>
                <a:latin typeface="Pretendard"/>
              </a:rPr>
              <a:t>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4320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FFFFFF"/>
                </a:solidFill>
                <a:latin typeface="Pretendard"/>
              </a:rPr>
              <a:t>판매 금액의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4846320" cy="1463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0" b="1">
                <a:solidFill>
                  <a:srgbClr val="FFD200"/>
                </a:solidFill>
                <a:latin typeface="Pretendard"/>
              </a:rPr>
              <a:t>5</a:t>
            </a:r>
            <a:r>
              <a:rPr sz="6000" b="1">
                <a:solidFill>
                  <a:srgbClr val="FFFFFF"/>
                </a:solidFill>
                <a:latin typeface="Pretendard"/>
              </a:rP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463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FFFFFF"/>
                </a:solidFill>
                <a:latin typeface="Pretendard"/>
              </a:rPr>
              <a:t>를 점포 수수료로 지급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9496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D200"/>
                </a:solidFill>
                <a:latin typeface="Pretendard"/>
              </a:rPr>
              <a:t>고정비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6692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Pretendard"/>
              </a:rPr>
              <a:t>0 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539496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D200"/>
                </a:solidFill>
                <a:latin typeface="Pretendard"/>
              </a:rPr>
              <a:t>인력 투입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56692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Pretendard"/>
              </a:rPr>
              <a:t>없음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539496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D200"/>
                </a:solidFill>
                <a:latin typeface="Pretendard"/>
              </a:rPr>
              <a:t>공간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56692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Pretendard"/>
              </a:rPr>
              <a:t>기존 유휴 공간 활용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2194560"/>
            <a:ext cx="5577840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60012"/>
                </a:solidFill>
                <a:latin typeface="Pretendard"/>
              </a:rPr>
              <a:t>EXAMPLE  ·  1회 공구 매출 1,000만 원 기준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926080"/>
            <a:ext cx="5212080" cy="18288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0632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1A1A"/>
                </a:solidFill>
                <a:latin typeface="Pretendard"/>
              </a:rPr>
              <a:t>1회 공구 매출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301752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>
                <a:solidFill>
                  <a:srgbClr val="1A1A1A"/>
                </a:solidFill>
                <a:latin typeface="Pretendard"/>
              </a:rPr>
              <a:t>1,000만 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3566160"/>
            <a:ext cx="5212080" cy="18288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A1A1A"/>
                </a:solidFill>
                <a:latin typeface="Pretendard"/>
              </a:rPr>
              <a:t>점포 수수료 (5%)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36576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>
                <a:solidFill>
                  <a:srgbClr val="E60012"/>
                </a:solidFill>
                <a:latin typeface="Pretendard"/>
              </a:rPr>
              <a:t>50만 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297680"/>
            <a:ext cx="5212080" cy="3657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6583680" y="4434840"/>
          <a:ext cx="1463040" cy="1280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8229600" y="45720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0012"/>
                </a:solidFill>
                <a:latin typeface="Pretendard"/>
              </a:rPr>
              <a:t>점포 수익 50만 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9377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→ 공간도, 인력도 그대로.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   매달 쌓이는 순수익.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66666"/>
                </a:solidFill>
                <a:latin typeface="Pretendard"/>
              </a:rPr>
              <a:t>이마트 에브리데이 사업제안서  ·  2026.03.01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27432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666666"/>
                </a:solidFill>
                <a:latin typeface="Pretendard"/>
              </a:rPr>
              <a:t>EMART EVERYDAY  ·  사업제안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>
                <a:solidFill>
                  <a:srgbClr val="E60012"/>
                </a:solidFill>
                <a:latin typeface="Pretendard"/>
              </a:rPr>
              <a:t>05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Pretendard"/>
              </a:rPr>
              <a:t>한 번의 장바구니, 두 번의 방문.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Pretendard"/>
              </a:rPr>
              <a:t>공동구매 수령을 위해 점포 방문이 필수. 방문 중 추가 장바구니가 채워진다.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36192"/>
            <a:ext cx="457200" cy="3657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194560"/>
            <a:ext cx="3566160" cy="356616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194560"/>
            <a:ext cx="3566160" cy="7315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11680" y="265176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2651760"/>
            <a:ext cx="1005840" cy="1005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E60012"/>
                </a:solidFill>
                <a:latin typeface="Pretendard"/>
              </a:rPr>
              <a:t>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2336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A1A1A"/>
                </a:solidFill>
                <a:latin typeface="Pretendard"/>
              </a:rPr>
              <a:t>수령 필수 방문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공동구매 상품 수령을 위해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점포 방문이 반드시 필요합니다.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194560"/>
            <a:ext cx="3566160" cy="356616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2194560"/>
            <a:ext cx="3566160" cy="7315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0" y="265176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0" y="2651760"/>
            <a:ext cx="1005840" cy="1005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E60012"/>
                </a:solidFill>
                <a:latin typeface="Pretendard"/>
              </a:rPr>
              <a:t>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02336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A1A1A"/>
                </a:solidFill>
                <a:latin typeface="Pretendard"/>
              </a:rPr>
              <a:t>자연스러운 추가 구매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466344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수령 동선 위 매대에서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평균 장바구니가 커집니다.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2194560"/>
            <a:ext cx="3566160" cy="356616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0" y="2194560"/>
            <a:ext cx="3566160" cy="7315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0" y="265176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0" y="2651760"/>
            <a:ext cx="1005840" cy="1005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E60012"/>
                </a:solidFill>
                <a:latin typeface="Pretendard"/>
              </a:rPr>
              <a:t>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02336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A1A1A"/>
                </a:solidFill>
                <a:latin typeface="Pretendard"/>
              </a:rPr>
              <a:t>지역 고객 재유입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466344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공동구매 주기마다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지역 고객이 반복 방문합니다.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6035040"/>
            <a:ext cx="10698480" cy="548640"/>
          </a:xfrm>
          <a:prstGeom prst="roundRect">
            <a:avLst>
              <a:gd name="adj" fmla="val 30000"/>
            </a:avLst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108192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Pretendard"/>
              </a:rPr>
              <a:t>공동구매는 매출 이전에, 방문 유입 전략입니다.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66666"/>
                </a:solidFill>
                <a:latin typeface="Pretendard"/>
              </a:rPr>
              <a:t>이마트 에브리데이 사업제안서  ·  2026.03.01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27432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666666"/>
                </a:solidFill>
                <a:latin typeface="Pretendard"/>
              </a:rPr>
              <a:t>EMART EVERYDAY  ·  사업제안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>
                <a:solidFill>
                  <a:srgbClr val="E60012"/>
                </a:solidFill>
                <a:latin typeface="Pretendard"/>
              </a:rPr>
              <a:t>06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Pretendard"/>
              </a:rPr>
              <a:t>동네마트만 할 수 있는 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Pretendard"/>
              </a:rPr>
              <a:t>유휴 공간 + 지역 고객 + 생활 동선. 에브리데이만의 자산이 그대로 경쟁력이 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36192"/>
            <a:ext cx="457200" cy="3657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286000"/>
            <a:ext cx="10515600" cy="7315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8716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48716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Pretendard"/>
              </a:rPr>
              <a:t>기존 공동구매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48716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D200"/>
                </a:solidFill>
                <a:latin typeface="Pretendard"/>
              </a:rPr>
              <a:t>제안 모델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017520"/>
            <a:ext cx="10515600" cy="6858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3017520"/>
            <a:ext cx="4114800" cy="685800"/>
          </a:xfrm>
          <a:prstGeom prst="rect">
            <a:avLst/>
          </a:prstGeom>
          <a:solidFill>
            <a:srgbClr val="F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218688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Pretendard"/>
              </a:rPr>
              <a:t>공간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218688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666666"/>
                </a:solidFill>
                <a:latin typeface="Pretendard"/>
              </a:rPr>
              <a:t>임대 공간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3218688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E60012"/>
                </a:solidFill>
                <a:latin typeface="Pretendard"/>
              </a:rPr>
              <a:t>점포 유휴 공간 활용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703320"/>
            <a:ext cx="105156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3703320"/>
            <a:ext cx="4114800" cy="685800"/>
          </a:xfrm>
          <a:prstGeom prst="rect">
            <a:avLst/>
          </a:prstGeom>
          <a:solidFill>
            <a:srgbClr val="F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904488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Pretendard"/>
              </a:rPr>
              <a:t>인력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904488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666666"/>
                </a:solidFill>
                <a:latin typeface="Pretendard"/>
              </a:rPr>
              <a:t>상주 인력 필요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0" y="3904488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E60012"/>
                </a:solidFill>
                <a:latin typeface="Pretendard"/>
              </a:rPr>
              <a:t>점포 수령 구조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4389120"/>
            <a:ext cx="10515600" cy="6858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389120"/>
            <a:ext cx="4114800" cy="685800"/>
          </a:xfrm>
          <a:prstGeom prst="rect">
            <a:avLst/>
          </a:prstGeom>
          <a:solidFill>
            <a:srgbClr val="F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90288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Pretendard"/>
              </a:rPr>
              <a:t>택배비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590288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666666"/>
                </a:solidFill>
                <a:latin typeface="Pretendard"/>
              </a:rPr>
              <a:t>개별 택배비 발생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4590288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E60012"/>
                </a:solidFill>
                <a:latin typeface="Pretendard"/>
              </a:rPr>
              <a:t>일괄 납품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074920"/>
            <a:ext cx="105156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0" y="5074920"/>
            <a:ext cx="4114800" cy="685800"/>
          </a:xfrm>
          <a:prstGeom prst="rect">
            <a:avLst/>
          </a:prstGeom>
          <a:solidFill>
            <a:srgbClr val="F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276088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Pretendard"/>
              </a:rPr>
              <a:t>운영비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5276088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666666"/>
                </a:solidFill>
                <a:latin typeface="Pretendard"/>
              </a:rPr>
              <a:t>부담 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0" y="5276088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E60012"/>
                </a:solidFill>
                <a:latin typeface="Pretendard"/>
              </a:rPr>
              <a:t>수수료 기반 구조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5760720"/>
            <a:ext cx="10515600" cy="5486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0012"/>
                </a:solidFill>
                <a:latin typeface="Pretendard"/>
              </a:rPr>
              <a:t>→ 점포 유휴 공간을 활용한 비용 최소화 모델.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66666"/>
                </a:solidFill>
                <a:latin typeface="Pretendard"/>
              </a:rPr>
              <a:t>이마트 에브리데이 사업제안서  ·  2026.03.01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27432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666666"/>
                </a:solidFill>
                <a:latin typeface="Pretendard"/>
              </a:rPr>
              <a:t>EMART EVERYDAY  ·  사업제안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>
                <a:solidFill>
                  <a:srgbClr val="E60012"/>
                </a:solidFill>
                <a:latin typeface="Pretendard"/>
              </a:rPr>
              <a:t>07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Pretendard"/>
              </a:rPr>
              <a:t>온라인에서 매장까지, 5단계.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Pretendard"/>
              </a:rPr>
              <a:t>점포 방문에서 시작해 구독·주문·수령까지. 자연스러운 소비자 여정 설계.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36192"/>
            <a:ext cx="457200" cy="3657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0160" y="2560320"/>
            <a:ext cx="914400" cy="91440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560320"/>
            <a:ext cx="914400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00400"/>
            <a:ext cx="2011680" cy="210312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56616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Pretendard"/>
              </a:rPr>
              <a:t>점포 방문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14800"/>
            <a:ext cx="1737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매장 내 안내 POP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97480" y="2880360"/>
            <a:ext cx="228600" cy="274320"/>
          </a:xfrm>
          <a:prstGeom prst="rightArrow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74720" y="2560320"/>
            <a:ext cx="914400" cy="91440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560320"/>
            <a:ext cx="914400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200400"/>
            <a:ext cx="2011680" cy="210312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356616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Pretendard"/>
              </a:rPr>
              <a:t>QR 스캔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4114800"/>
            <a:ext cx="1737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카운터·매대 QR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892040" y="2880360"/>
            <a:ext cx="228600" cy="274320"/>
          </a:xfrm>
          <a:prstGeom prst="rightArrow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669280" y="2560320"/>
            <a:ext cx="914400" cy="91440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0" y="2560320"/>
            <a:ext cx="914400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0" y="3200400"/>
            <a:ext cx="2011680" cy="210312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356616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Pretendard"/>
              </a:rPr>
              <a:t>채널 구독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4114800"/>
            <a:ext cx="1737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지역 공동구매 채널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086600" y="2880360"/>
            <a:ext cx="228600" cy="274320"/>
          </a:xfrm>
          <a:prstGeom prst="rightArrow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863840" y="2560320"/>
            <a:ext cx="914400" cy="91440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0" y="2560320"/>
            <a:ext cx="914400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"/>
              </a:rPr>
              <a:t>04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3200400"/>
            <a:ext cx="2011680" cy="210312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0" y="356616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Pretendard"/>
              </a:rPr>
              <a:t>공동구매 신청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2360" y="4114800"/>
            <a:ext cx="1737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온라인 주문·결제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281160" y="2880360"/>
            <a:ext cx="228600" cy="274320"/>
          </a:xfrm>
          <a:prstGeom prst="rightArrow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58400" y="2560320"/>
            <a:ext cx="914400" cy="91440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0" y="2560320"/>
            <a:ext cx="914400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"/>
              </a:rPr>
              <a:t>05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60" y="3200400"/>
            <a:ext cx="2011680" cy="210312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09760" y="356616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Pretendard"/>
              </a:rPr>
              <a:t>점포 수령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6920" y="4114800"/>
            <a:ext cx="1737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QR 확인 후 픽업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5852160"/>
            <a:ext cx="10698480" cy="548640"/>
          </a:xfrm>
          <a:prstGeom prst="roundRect">
            <a:avLst>
              <a:gd name="adj" fmla="val 30000"/>
            </a:avLst>
          </a:prstGeom>
          <a:solidFill>
            <a:srgbClr val="F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925312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E60012"/>
                </a:solidFill>
                <a:latin typeface="Pretendard"/>
              </a:rPr>
              <a:t>오프라인 점포가 온라인 유입의 시작점이 됩니다.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66666"/>
                </a:solidFill>
                <a:latin typeface="Pretendard"/>
              </a:rPr>
              <a:t>이마트 에브리데이 사업제안서  ·  2026.03.01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27432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666666"/>
                </a:solidFill>
                <a:latin typeface="Pretendard"/>
              </a:rPr>
              <a:t>EMART EVERYDAY  ·  사업제안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>
                <a:solidFill>
                  <a:srgbClr val="E60012"/>
                </a:solidFill>
                <a:latin typeface="Pretendard"/>
              </a:rPr>
              <a:t>08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Pretendard"/>
              </a:rPr>
              <a:t>대형마트엔 없는 상품만.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Pretendard"/>
              </a:rPr>
              <a:t>가격 경쟁이 아닌 차별화 상품 중심. 이마트 본점 MD와 충돌하지 않는 독자 카테고리.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36192"/>
            <a:ext cx="457200" cy="3657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194560"/>
            <a:ext cx="53035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194560"/>
            <a:ext cx="91440" cy="18288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000" y="2606040"/>
            <a:ext cx="1005840" cy="1005840"/>
          </a:xfrm>
          <a:prstGeom prst="ellipse">
            <a:avLst/>
          </a:prstGeom>
          <a:solidFill>
            <a:srgbClr val="FFE5E8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606040"/>
            <a:ext cx="1005840" cy="1005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E60012"/>
                </a:solidFill>
                <a:latin typeface="Pretendard"/>
              </a:rPr>
              <a:t>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5146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60012"/>
                </a:solidFill>
                <a:latin typeface="Pretendard"/>
              </a:rPr>
              <a:t>30~40% 할인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06324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시중가 대비 30~40% 할인된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공동구매 단가 설계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194560"/>
            <a:ext cx="53035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194560"/>
            <a:ext cx="91440" cy="1828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12280" y="2606040"/>
            <a:ext cx="1005840" cy="1005840"/>
          </a:xfrm>
          <a:prstGeom prst="ellipse">
            <a:avLst/>
          </a:prstGeom>
          <a:solidFill>
            <a:srgbClr val="F5F5F5"/>
          </a:solidFill>
          <a:ln w="317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2606040"/>
            <a:ext cx="1005840" cy="1005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1A1A1A"/>
                </a:solidFill>
                <a:latin typeface="Pretendard"/>
              </a:rPr>
              <a:t>🏷️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5146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Pretendard"/>
              </a:rPr>
              <a:t>차별화 상품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06324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대기업 브랜드가 아닌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중소·신생 브랜드 중심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97680"/>
            <a:ext cx="53035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297680"/>
            <a:ext cx="91440" cy="18288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43000" y="4709160"/>
            <a:ext cx="1005840" cy="1005840"/>
          </a:xfrm>
          <a:prstGeom prst="ellipse">
            <a:avLst/>
          </a:prstGeom>
          <a:solidFill>
            <a:srgbClr val="FFE5E8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709160"/>
            <a:ext cx="1005840" cy="1005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E60012"/>
                </a:solidFill>
                <a:latin typeface="Pretendard"/>
              </a:rPr>
              <a:t>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461772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60012"/>
                </a:solidFill>
                <a:latin typeface="Pretendard"/>
              </a:rPr>
              <a:t>선공개 · 지역 한정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51663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지역 한정 · 선공개 상품으로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'여기서만' 가치를 만듭니다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4297680"/>
            <a:ext cx="53035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4297680"/>
            <a:ext cx="91440" cy="1828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12280" y="4709160"/>
            <a:ext cx="1005840" cy="1005840"/>
          </a:xfrm>
          <a:prstGeom prst="ellipse">
            <a:avLst/>
          </a:prstGeom>
          <a:solidFill>
            <a:srgbClr val="F5F5F5"/>
          </a:solidFill>
          <a:ln w="317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4709160"/>
            <a:ext cx="1005840" cy="1005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1A1A1A"/>
                </a:solidFill>
                <a:latin typeface="Pretendard"/>
              </a:rPr>
              <a:t>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461772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Pretendard"/>
              </a:rPr>
              <a:t>자체 기획 상품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51663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기획 단계부터 공동구매용으로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설계된 PB 상품 중심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3550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0012"/>
                </a:solidFill>
                <a:latin typeface="Pretendard"/>
              </a:rPr>
              <a:t>→ 가격이 아니라 '상품' 자체로 에브리데이에만 있는 이유를 만듭니다.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66666"/>
                </a:solidFill>
                <a:latin typeface="Pretendard"/>
              </a:rPr>
              <a:t>이마트 에브리데이 사업제안서  ·  2026.03.01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27432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666666"/>
                </a:solidFill>
                <a:latin typeface="Pretendard"/>
              </a:rPr>
              <a:t>EMART EVERYDAY  ·  사업제안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>
                <a:solidFill>
                  <a:srgbClr val="E60012"/>
                </a:solidFill>
                <a:latin typeface="Pretendard"/>
              </a:rPr>
              <a:t>09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Pretendard"/>
              </a:rPr>
              <a:t>점주는 확인만, 수익은 자동.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Pretendard"/>
              </a:rPr>
              <a:t>운영 부담을 점주 업무 바깥에 두는 설계. 점포는 상자만 받고, 소비자는 QR로 수령.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36192"/>
            <a:ext cx="457200" cy="3657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286000"/>
            <a:ext cx="2560320" cy="4572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59152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Pretendard"/>
              </a:rPr>
              <a:t>STEP 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743200"/>
            <a:ext cx="256032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2286000"/>
            <a:ext cx="2560320" cy="320040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554480" y="3108960"/>
            <a:ext cx="1097280" cy="109728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3108960"/>
            <a:ext cx="1097280" cy="10972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Pretendard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Pretendard"/>
              </a:rPr>
              <a:t>수량 확정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89204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공동구매 마감</a:t>
            </a:r>
          </a:p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제안사 측 수량 집계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1880" y="2286000"/>
            <a:ext cx="2560320" cy="4572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80" y="2359152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Pretendard"/>
              </a:rPr>
              <a:t>STEP 02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1880" y="2743200"/>
            <a:ext cx="256032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11880" y="2286000"/>
            <a:ext cx="2560320" cy="320040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343400" y="3108960"/>
            <a:ext cx="1097280" cy="109728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3400" y="3108960"/>
            <a:ext cx="1097280" cy="10972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Pretendard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43891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Pretendard"/>
              </a:rPr>
              <a:t>점포 납품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489204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일괄 배송</a:t>
            </a:r>
          </a:p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점포 수령대 보관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286000"/>
            <a:ext cx="2560320" cy="4572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359152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Pretendard"/>
              </a:rPr>
              <a:t>STEP 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743200"/>
            <a:ext cx="256032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0" y="2286000"/>
            <a:ext cx="2560320" cy="320040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132320" y="3108960"/>
            <a:ext cx="1097280" cy="109728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0" y="3108960"/>
            <a:ext cx="1097280" cy="10972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Pretendard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3891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Pretendard"/>
              </a:rPr>
              <a:t>소비자 수령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9204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QR 확인</a:t>
            </a:r>
          </a:p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매장에서 픽업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9720" y="2286000"/>
            <a:ext cx="2560320" cy="4572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9720" y="2359152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Pretendard"/>
              </a:rPr>
              <a:t>STEP 04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89720" y="2743200"/>
            <a:ext cx="256032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89720" y="2286000"/>
            <a:ext cx="2560320" cy="320040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921240" y="3108960"/>
            <a:ext cx="1097280" cy="109728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21240" y="3108960"/>
            <a:ext cx="1097280" cy="10972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Pretendard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43891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Pretendard"/>
              </a:rPr>
              <a:t>5% 정산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72600" y="489204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월 단위 정산</a:t>
            </a:r>
          </a:p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점포 수수료 지급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521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0012"/>
                </a:solidFill>
                <a:latin typeface="Pretendard"/>
              </a:rPr>
              <a:t>→ 점포 운영 부담 최소화 설계. 기존 업무에 끼어들지 않습니다.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66666"/>
                </a:solidFill>
                <a:latin typeface="Pretendard"/>
              </a:rPr>
              <a:t>이마트 에브리데이 사업제안서  ·  2026.03.01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27432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666666"/>
                </a:solidFill>
                <a:latin typeface="Pretendard"/>
              </a:rPr>
              <a:t>EMART EVERYDAY  ·  사업제안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>
                <a:solidFill>
                  <a:srgbClr val="E60012"/>
                </a:solidFill>
                <a:latin typeface="Pretendard"/>
              </a:rPr>
              <a:t>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Pretendard"/>
              </a:rPr>
              <a:t>점주를 귀찮게 하지 않는 설계.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Pretendard"/>
              </a:rPr>
              <a:t>설명, 상담, 재고관리 없음. QR 한 장이면 끝. 단기 테스트도 바로 가능.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36192"/>
            <a:ext cx="457200" cy="3657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286000"/>
            <a:ext cx="2560320" cy="3291840"/>
          </a:xfrm>
          <a:prstGeom prst="roundRect">
            <a:avLst>
              <a:gd name="adj" fmla="val 4000"/>
            </a:avLst>
          </a:prstGeom>
          <a:solidFill>
            <a:srgbClr val="F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54480" y="265176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2651760"/>
            <a:ext cx="1097280" cy="10972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E60012"/>
                </a:solidFill>
                <a:latin typeface="Pretendard"/>
              </a:rPr>
              <a:t>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233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1A1A1A"/>
                </a:solidFill>
                <a:latin typeface="Pretendard"/>
              </a:rPr>
              <a:t>설명 인력 불필요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2628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점주·직원 설명 없음</a:t>
            </a:r>
          </a:p>
          <a:p>
            <a:pPr algn="ctr">
              <a:lnSpc>
                <a:spcPct val="15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QR 코드 안내 중심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1880" y="2286000"/>
            <a:ext cx="2560320" cy="3291840"/>
          </a:xfrm>
          <a:prstGeom prst="roundRect">
            <a:avLst>
              <a:gd name="adj" fmla="val 4000"/>
            </a:avLst>
          </a:prstGeom>
          <a:solidFill>
            <a:srgbClr val="F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43400" y="265176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2651760"/>
            <a:ext cx="1097280" cy="10972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E60012"/>
                </a:solidFill>
                <a:latin typeface="Pretendard"/>
              </a:rPr>
              <a:t>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0233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1A1A1A"/>
                </a:solidFill>
                <a:latin typeface="Pretendard"/>
              </a:rPr>
              <a:t>QR 안내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452628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간단한 QR 한 장</a:t>
            </a:r>
          </a:p>
          <a:p>
            <a:pPr algn="ctr">
              <a:lnSpc>
                <a:spcPct val="15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소비자 스스로 접근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286000"/>
            <a:ext cx="2560320" cy="3291840"/>
          </a:xfrm>
          <a:prstGeom prst="roundRect">
            <a:avLst>
              <a:gd name="adj" fmla="val 4000"/>
            </a:avLst>
          </a:prstGeom>
          <a:solidFill>
            <a:srgbClr val="F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0" y="265176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2651760"/>
            <a:ext cx="1097280" cy="10972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E60012"/>
                </a:solidFill>
                <a:latin typeface="Pretendard"/>
              </a:rP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0233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1A1A1A"/>
                </a:solidFill>
                <a:latin typeface="Pretendard"/>
              </a:rPr>
              <a:t>단순 수령 확인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52628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QR 스캔 후 수령 체크</a:t>
            </a:r>
          </a:p>
          <a:p>
            <a:pPr algn="ctr">
              <a:lnSpc>
                <a:spcPct val="15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재고·발주 관리 없음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86000"/>
            <a:ext cx="2560320" cy="3291840"/>
          </a:xfrm>
          <a:prstGeom prst="roundRect">
            <a:avLst>
              <a:gd name="adj" fmla="val 4000"/>
            </a:avLst>
          </a:prstGeom>
          <a:solidFill>
            <a:srgbClr val="F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921240" y="265176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21240" y="2651760"/>
            <a:ext cx="1097280" cy="10972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E60012"/>
                </a:solidFill>
                <a:latin typeface="Pretendard"/>
              </a:rPr>
              <a:t>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40233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1A1A1A"/>
                </a:solidFill>
                <a:latin typeface="Pretendard"/>
              </a:rPr>
              <a:t>단기 테스트 운영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452628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3~6개월 단기 단위로</a:t>
            </a:r>
          </a:p>
          <a:p>
            <a:pPr algn="ctr">
              <a:lnSpc>
                <a:spcPct val="15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부담 없이 시작 가능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66666"/>
                </a:solidFill>
                <a:latin typeface="Pretendard"/>
              </a:rPr>
              <a:t>이마트 에브리데이 사업제안서  ·  2026.03.01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27432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666666"/>
                </a:solidFill>
                <a:latin typeface="Pretendard"/>
              </a:rPr>
              <a:t>EMART EVERYDAY  ·  사업제안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>
                <a:solidFill>
                  <a:srgbClr val="E60012"/>
                </a:solidFill>
                <a:latin typeface="Pretendard"/>
              </a:rPr>
              <a:t>11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Pretendard"/>
              </a:rPr>
              <a:t>3개월, 5개 점포로 증명.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Pretendard"/>
              </a:rPr>
              <a:t>리스크 없는 파일럿 운영 제안. 최소 단위로 데이터를 만들고, 확장은 그 다음입니다.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36192"/>
            <a:ext cx="457200" cy="3657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286000"/>
            <a:ext cx="2560320" cy="201168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4297680"/>
            <a:ext cx="2560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286000"/>
            <a:ext cx="2560320" cy="329184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2560320" cy="1463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200" b="1">
                <a:solidFill>
                  <a:srgbClr val="FFD200"/>
                </a:solidFill>
                <a:latin typeface="Pretendard"/>
              </a:rPr>
              <a:t>3~5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86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Pretendard"/>
              </a:rPr>
              <a:t>개 점포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Pretendard"/>
              </a:rPr>
              <a:t>파일럿 대상 점포 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2286000"/>
            <a:ext cx="2560320" cy="201168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4297680"/>
            <a:ext cx="2560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11880" y="2286000"/>
            <a:ext cx="2560320" cy="329184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80" y="2514600"/>
            <a:ext cx="2560320" cy="1463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200" b="1">
                <a:solidFill>
                  <a:srgbClr val="FFD200"/>
                </a:solidFill>
                <a:latin typeface="Pretendard"/>
              </a:rPr>
              <a:t>1~2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3886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Pretendard"/>
              </a:rPr>
              <a:t>개 상품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457200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Pretendard"/>
              </a:rPr>
              <a:t>테스트 SKU 수량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286000"/>
            <a:ext cx="2560320" cy="201168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297680"/>
            <a:ext cx="2560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0" y="2286000"/>
            <a:ext cx="2560320" cy="329184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514600"/>
            <a:ext cx="2560320" cy="1463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200" b="1">
                <a:solidFill>
                  <a:srgbClr val="FFD200"/>
                </a:solidFill>
                <a:latin typeface="Pretendar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886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Pretendard"/>
              </a:rPr>
              <a:t>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57200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Pretendard"/>
              </a:rPr>
              <a:t>운영 기간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89720" y="2286000"/>
            <a:ext cx="2560320" cy="201168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89720" y="4297680"/>
            <a:ext cx="2560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9720" y="2286000"/>
            <a:ext cx="2560320" cy="329184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89720" y="2514600"/>
            <a:ext cx="2560320" cy="1463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0" b="1">
                <a:solidFill>
                  <a:srgbClr val="FFD200"/>
                </a:solidFill>
                <a:latin typeface="Pretendard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3886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Pretendard"/>
              </a:rPr>
              <a:t>데이터 검증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457200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Pretendard"/>
              </a:rPr>
              <a:t>확장 판단 근거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852160"/>
            <a:ext cx="10698480" cy="548640"/>
          </a:xfrm>
          <a:prstGeom prst="roundRect">
            <a:avLst>
              <a:gd name="adj" fmla="val 30000"/>
            </a:avLst>
          </a:prstGeom>
          <a:solidFill>
            <a:srgbClr val="FFF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925312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E60012"/>
                </a:solidFill>
                <a:latin typeface="Pretendard"/>
              </a:rPr>
              <a:t>리스크 없는 실험 구조 · 데이터 기반 확장 판단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66666"/>
                </a:solidFill>
                <a:latin typeface="Pretendard"/>
              </a:rPr>
              <a:t>이마트 에브리데이 사업제안서  ·  2026.03.01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27432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666666"/>
                </a:solidFill>
                <a:latin typeface="Pretendard"/>
              </a:rPr>
              <a:t>EMART EVERYDAY  ·  사업제안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>
                <a:solidFill>
                  <a:srgbClr val="E60012"/>
                </a:solidFill>
                <a:latin typeface="Pretendard"/>
              </a:rP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Pretendard"/>
              </a:rPr>
              <a:t>점포에 남는 것, 다섯 가지.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Pretendard"/>
              </a:rPr>
              <a:t>단기 매출을 넘어, 점포가 축적하는 다섯 가지 장기 자산.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36192"/>
            <a:ext cx="457200" cy="3657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286000"/>
            <a:ext cx="2103120" cy="3291840"/>
          </a:xfrm>
          <a:prstGeom prst="roundRect">
            <a:avLst>
              <a:gd name="adj" fmla="val 4000"/>
            </a:avLst>
          </a:prstGeom>
          <a:solidFill>
            <a:srgbClr val="E60012"/>
          </a:solidFill>
          <a:ln w="1270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03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D200"/>
                </a:solidFill>
                <a:latin typeface="Pretendard"/>
              </a:rPr>
              <a:t>01</a:t>
            </a:r>
          </a:p>
        </p:txBody>
      </p:sp>
      <p:sp>
        <p:nvSpPr>
          <p:cNvPr id="11" name="Oval 10"/>
          <p:cNvSpPr/>
          <p:nvPr/>
        </p:nvSpPr>
        <p:spPr>
          <a:xfrm>
            <a:off x="1280160" y="310896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108960"/>
            <a:ext cx="1005840" cy="1005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E60012"/>
                </a:solidFill>
                <a:latin typeface="Pretendard"/>
              </a:rPr>
              <a:t>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Pretendard"/>
              </a:rPr>
              <a:t>방문 증가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84632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FFF6CC"/>
                </a:solidFill>
                <a:latin typeface="Pretendard"/>
              </a:rPr>
              <a:t>지역 고객</a:t>
            </a:r>
          </a:p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FFF6CC"/>
                </a:solidFill>
                <a:latin typeface="Pretendard"/>
              </a:rPr>
              <a:t>점포 방문 증가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800" y="2286000"/>
            <a:ext cx="210312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5603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0012"/>
                </a:solidFill>
                <a:latin typeface="Pretendard"/>
              </a:rPr>
              <a:t>02</a:t>
            </a:r>
          </a:p>
        </p:txBody>
      </p:sp>
      <p:sp>
        <p:nvSpPr>
          <p:cNvPr id="17" name="Oval 16"/>
          <p:cNvSpPr/>
          <p:nvPr/>
        </p:nvSpPr>
        <p:spPr>
          <a:xfrm>
            <a:off x="3520440" y="310896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3108960"/>
            <a:ext cx="1005840" cy="1005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E60012"/>
                </a:solidFill>
                <a:latin typeface="Pretendard"/>
              </a:rPr>
              <a:t>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42976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Pretendard"/>
              </a:rPr>
              <a:t>수익 확대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484632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공동구매 수수료</a:t>
            </a:r>
          </a:p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점주 수익 확대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12080" y="2286000"/>
            <a:ext cx="2103120" cy="3291840"/>
          </a:xfrm>
          <a:prstGeom prst="roundRect">
            <a:avLst>
              <a:gd name="adj" fmla="val 4000"/>
            </a:avLst>
          </a:prstGeom>
          <a:solidFill>
            <a:srgbClr val="E60012"/>
          </a:solidFill>
          <a:ln w="1270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25603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D200"/>
                </a:solidFill>
                <a:latin typeface="Pretendard"/>
              </a:rPr>
              <a:t>03</a:t>
            </a:r>
          </a:p>
        </p:txBody>
      </p:sp>
      <p:sp>
        <p:nvSpPr>
          <p:cNvPr id="23" name="Oval 22"/>
          <p:cNvSpPr/>
          <p:nvPr/>
        </p:nvSpPr>
        <p:spPr>
          <a:xfrm>
            <a:off x="5760720" y="310896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0" y="3108960"/>
            <a:ext cx="1005840" cy="1005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E60012"/>
                </a:solidFill>
                <a:latin typeface="Pretendard"/>
              </a:rPr>
              <a:t>❤️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42976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Pretendard"/>
              </a:rPr>
              <a:t>지역 재활성화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84632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FFF6CC"/>
                </a:solidFill>
                <a:latin typeface="Pretendard"/>
              </a:rPr>
              <a:t>고객 재방문 주기</a:t>
            </a:r>
          </a:p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FFF6CC"/>
                </a:solidFill>
                <a:latin typeface="Pretendard"/>
              </a:rPr>
              <a:t>지역 고객 재활성화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52360" y="2286000"/>
            <a:ext cx="210312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26680" y="25603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0012"/>
                </a:solidFill>
                <a:latin typeface="Pretendard"/>
              </a:rPr>
              <a:t>04</a:t>
            </a:r>
          </a:p>
        </p:txBody>
      </p:sp>
      <p:sp>
        <p:nvSpPr>
          <p:cNvPr id="29" name="Oval 28"/>
          <p:cNvSpPr/>
          <p:nvPr/>
        </p:nvSpPr>
        <p:spPr>
          <a:xfrm>
            <a:off x="8001000" y="310896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108960"/>
            <a:ext cx="1005840" cy="1005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E60012"/>
                </a:solidFill>
                <a:latin typeface="Pretendard"/>
              </a:rPr>
              <a:t>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2360" y="42976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Pretendard"/>
              </a:rPr>
              <a:t>마케팅 절감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484632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지역 채널 기반</a:t>
            </a:r>
          </a:p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마케팅 비용 절감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92640" y="2286000"/>
            <a:ext cx="2103120" cy="3291840"/>
          </a:xfrm>
          <a:prstGeom prst="roundRect">
            <a:avLst>
              <a:gd name="adj" fmla="val 4000"/>
            </a:avLst>
          </a:prstGeom>
          <a:solidFill>
            <a:srgbClr val="E60012"/>
          </a:solidFill>
          <a:ln w="1270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66960" y="25603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D200"/>
                </a:solidFill>
                <a:latin typeface="Pretendard"/>
              </a:rPr>
              <a:t>05</a:t>
            </a:r>
          </a:p>
        </p:txBody>
      </p:sp>
      <p:sp>
        <p:nvSpPr>
          <p:cNvPr id="35" name="Oval 34"/>
          <p:cNvSpPr/>
          <p:nvPr/>
        </p:nvSpPr>
        <p:spPr>
          <a:xfrm>
            <a:off x="10241280" y="310896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41280" y="3108960"/>
            <a:ext cx="1005840" cy="1005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E60012"/>
                </a:solidFill>
                <a:latin typeface="Pretendard"/>
              </a:rPr>
              <a:t>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42976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Pretendard"/>
              </a:rPr>
              <a:t>경쟁력 강화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29800" y="484632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FFF6CC"/>
                </a:solidFill>
                <a:latin typeface="Pretendard"/>
              </a:rPr>
              <a:t>동네마트 포지셔닝</a:t>
            </a:r>
          </a:p>
          <a:p>
            <a:pPr algn="ctr">
              <a:lnSpc>
                <a:spcPct val="140000"/>
              </a:lnSpc>
            </a:pPr>
            <a:r>
              <a:rPr sz="1100" b="0">
                <a:solidFill>
                  <a:srgbClr val="FFF6CC"/>
                </a:solidFill>
                <a:latin typeface="Pretendard"/>
              </a:rPr>
              <a:t>점포 경쟁력 강화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66666"/>
                </a:solidFill>
                <a:latin typeface="Pretendard"/>
              </a:rPr>
              <a:t>이마트 에브리데이 사업제안서  ·  2026.03.01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27432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200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666666"/>
                </a:solidFill>
                <a:latin typeface="Pretendard"/>
              </a:rPr>
              <a:t>EMART EVERYDAY  ·  사업제안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>
                <a:solidFill>
                  <a:srgbClr val="E60012"/>
                </a:solidFill>
                <a:latin typeface="Pretendard"/>
              </a:rPr>
              <a:t>13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Pretendard"/>
              </a:rPr>
              <a:t>잘못돼도 점포는 손해 없음.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Pretendard"/>
              </a:rPr>
              <a:t>고정비·재고·인력 리스크를 모두 제안사 측이 흡수. 점포는 언제든 종료 가능.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36192"/>
            <a:ext cx="457200" cy="3657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194560"/>
            <a:ext cx="5303520" cy="18288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194560"/>
            <a:ext cx="5303520" cy="7315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60604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606040"/>
            <a:ext cx="1005840" cy="1005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E60012"/>
                </a:solidFill>
                <a:latin typeface="Pretendard"/>
              </a:rPr>
              <a:t>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25146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Pretendard"/>
              </a:rPr>
              <a:t>초기 테스트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01752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제한 점포 · 제한 상품으로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위험을 최소화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7440" y="3520440"/>
            <a:ext cx="2286000" cy="320040"/>
          </a:xfrm>
          <a:prstGeom prst="roundRect">
            <a:avLst>
              <a:gd name="adj" fmla="val 40000"/>
            </a:avLst>
          </a:prstGeom>
          <a:solidFill>
            <a:srgbClr val="F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440" y="35478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E60012"/>
                </a:solidFill>
                <a:latin typeface="Pretendard"/>
              </a:rPr>
              <a:t>3~5개 점포 / 3개월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194560"/>
            <a:ext cx="5303520" cy="18288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2194560"/>
            <a:ext cx="5303520" cy="7315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766560" y="260604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2606040"/>
            <a:ext cx="1005840" cy="1005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E60012"/>
                </a:solidFill>
                <a:latin typeface="Pretendard"/>
              </a:rPr>
              <a:t>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146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Pretendard"/>
              </a:rPr>
              <a:t>판매 부진 시 종료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01752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판매가 부진하면 즉시 종료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점포 위약 부담 없음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3520440"/>
            <a:ext cx="2286000" cy="320040"/>
          </a:xfrm>
          <a:prstGeom prst="roundRect">
            <a:avLst>
              <a:gd name="adj" fmla="val 40000"/>
            </a:avLst>
          </a:prstGeom>
          <a:solidFill>
            <a:srgbClr val="F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35478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E60012"/>
                </a:solidFill>
                <a:latin typeface="Pretendard"/>
              </a:rPr>
              <a:t>무조건부 종료권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297680"/>
            <a:ext cx="5303520" cy="18288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4297680"/>
            <a:ext cx="5303520" cy="7315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7280" y="470916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09160"/>
            <a:ext cx="1005840" cy="1005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E60012"/>
                </a:solidFill>
                <a:latin typeface="Pretendard"/>
              </a:rPr>
              <a:t>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6177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Pretendard"/>
              </a:rPr>
              <a:t>사은품 남용 방지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51206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차별화 상품 중심 설계로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가격 경쟁 · 사은품 의존 제거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77440" y="5623560"/>
            <a:ext cx="2286000" cy="320040"/>
          </a:xfrm>
          <a:prstGeom prst="roundRect">
            <a:avLst>
              <a:gd name="adj" fmla="val 40000"/>
            </a:avLst>
          </a:prstGeom>
          <a:solidFill>
            <a:srgbClr val="F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77440" y="56509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E60012"/>
                </a:solidFill>
                <a:latin typeface="Pretendard"/>
              </a:rPr>
              <a:t>상품 경쟁력 기반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4297680"/>
            <a:ext cx="5303520" cy="18288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0" y="4297680"/>
            <a:ext cx="5303520" cy="7315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766560" y="470916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4709160"/>
            <a:ext cx="1005840" cy="1005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E60012"/>
                </a:solidFill>
                <a:latin typeface="Pretendard"/>
              </a:rPr>
              <a:t>⚙️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46177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Pretendard"/>
              </a:rPr>
              <a:t>운영 간소화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51206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설명·재고·발주 없음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QR 기반 수령 운영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46720" y="5623560"/>
            <a:ext cx="2286000" cy="320040"/>
          </a:xfrm>
          <a:prstGeom prst="roundRect">
            <a:avLst>
              <a:gd name="adj" fmla="val 40000"/>
            </a:avLst>
          </a:prstGeom>
          <a:solidFill>
            <a:srgbClr val="F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0" y="56509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E60012"/>
                </a:solidFill>
                <a:latin typeface="Pretendard"/>
              </a:rPr>
              <a:t>점포 부담 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63550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0012"/>
                </a:solidFill>
                <a:latin typeface="Pretendard"/>
              </a:rPr>
              <a:t>→ 점포 리스크 0. 제안사가 먼저 증명하고, 점포는 결과만 공유합니다.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66666"/>
                </a:solidFill>
                <a:latin typeface="Pretendard"/>
              </a:rPr>
              <a:t>이마트 에브리데이 사업제안서  ·  2026.03.01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12191695" cy="109728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D200"/>
                </a:solidFill>
                <a:latin typeface="Pretendard"/>
              </a:rPr>
              <a:t>PROPOSAL 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FFFFFF"/>
                </a:solidFill>
                <a:latin typeface="Pretendard"/>
              </a:rPr>
              <a:t>에브리데이에 가장 잘 어울리는 제안.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77440"/>
            <a:ext cx="2651760" cy="274320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91440" cy="27432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0012"/>
                </a:solidFill>
                <a:latin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918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Pretendard"/>
              </a:rPr>
              <a:t>유휴 역량 활용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886200"/>
            <a:ext cx="365760" cy="3657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점포 유휴 공간으로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추가 수익 모델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2377440"/>
            <a:ext cx="2651760" cy="274320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2377440"/>
            <a:ext cx="91440" cy="27432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27432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0012"/>
                </a:solidFill>
                <a:latin typeface="Pretendar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918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Pretendard"/>
              </a:rPr>
              <a:t>방문 유입 중심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0" y="3886200"/>
            <a:ext cx="365760" cy="3657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406908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매출 이전에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방문 유입 구조 설계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377440"/>
            <a:ext cx="2651760" cy="274320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2377440"/>
            <a:ext cx="91440" cy="27432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27432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0012"/>
                </a:solidFill>
                <a:latin typeface="Pretendar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2918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Pretendard"/>
              </a:rPr>
              <a:t>비용 부담 최소화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3886200"/>
            <a:ext cx="365760" cy="3657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06908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고정비·인력 부담 없이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수수료 기반 수익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35440" y="2377440"/>
            <a:ext cx="2651760" cy="274320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35440" y="2377440"/>
            <a:ext cx="91440" cy="27432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0" y="27432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0012"/>
                </a:solidFill>
                <a:latin typeface="Pretendard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32918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Pretendard"/>
              </a:rPr>
              <a:t>파일럿 검증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0" y="3886200"/>
            <a:ext cx="365760" cy="3657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09760" y="406908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3개월 · 5개 점포로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666666"/>
                </a:solidFill>
                <a:latin typeface="Pretendard"/>
              </a:rPr>
              <a:t>데이터 기반 확장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623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FFFFFF"/>
                </a:solidFill>
                <a:latin typeface="Pretendard"/>
              </a:rPr>
              <a:t>이마트 에브리데이 점포에 실질적 이익을 제공하는 구조를 제안드립니다.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989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FFD200"/>
                </a:solidFill>
                <a:latin typeface="Pretendard"/>
              </a:rPr>
              <a:t>매일, 동네가 모이는 거점.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02575" y="64008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66666"/>
                </a:solidFill>
                <a:latin typeface="Pretendard"/>
              </a:rPr>
              <a:t>제안사명  ·  2026.03.01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