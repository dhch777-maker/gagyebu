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4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sheet2.xlsx"/></Relationships>
</file>

<file path=ppt/charts/chart1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 지수</c:v>
                </c:pt>
              </c:strCache>
            </c:strRef>
          </c:tx>
          <c:spPr>
            <a:solidFill>
              <a:srgbClr val="1f6bba"/>
            </a:solidFill>
            <a:ln w="25400" cap="flat" cmpd="sng">
              <a:solidFill>
                <a:srgbClr val="ffd200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fd200"/>
              </a:solidFill>
              <a:ln w="9525" cap="flat" cmpd="sng">
                <a:solidFill>
                  <a:srgbClr val="1f6bba"/>
                </a:solidFill>
                <a:prstDash val="solid"/>
                <a:round/>
              </a:ln>
              <a:effectLst/>
            </c:spPr>
          </c:marker>
          <c:dPt>
            <c:idx val="0"/>
            <c:invertIfNegative val="0"/>
            <c:bubble3D val="0"/>
            <c:spPr/>
          </c:dPt>
          <c:dPt>
            <c:idx val="1"/>
            <c:invertIfNegative val="0"/>
            <c:bubble3D val="0"/>
            <c:spPr/>
          </c:dPt>
          <c:dPt>
            <c:idx val="2"/>
            <c:invertIfNegative val="0"/>
            <c:bubble3D val="0"/>
            <c:spPr/>
          </c:dPt>
          <c:dPt>
            <c:idx val="3"/>
            <c:invertIfNegative val="0"/>
            <c:bubble3D val="0"/>
            <c:spPr/>
          </c:dPt>
          <c:dPt>
            <c:idx val="4"/>
            <c:invertIfNegative val="0"/>
            <c:bubble3D val="0"/>
            <c:spPr/>
          </c:dPt>
          <c:dLbls>
            <c:delete val="0"/>
            <c:numFmt formatCode="#,##0" sourceLinked="0"/>
            <c:txPr>
              <a:bodyPr rot="0" vert="horz" wrap="none" lIns="0" tIns="0" rIns="0" bIns="0" anchor="ctr" anchorCtr="1"/>
              <a:p>
                <a:pPr algn="l">
                  <a:defRPr sz="12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92</c:v>
                </c:pt>
                <c:pt idx="2">
                  <c:v>85</c:v>
                </c:pt>
                <c:pt idx="3">
                  <c:v>80</c:v>
                </c:pt>
                <c:pt idx="4">
                  <c:v>73</c:v>
                </c:pt>
              </c:numCache>
            </c:numRef>
          </c:val>
          <c:smooth val="0"/>
        </c:ser>
        <c:dLbls>
          <c:delete val="0"/>
          <c:numFmt formatCode="#,##0" sourceLinked="0"/>
          <c:txPr>
            <a:bodyPr rot="0" vert="horz" wrap="none" lIns="0" tIns="0" rIns="0" bIns="0" anchor="ctr" anchorCtr="1"/>
            <a:p>
              <a:pPr algn="l">
                <a:defRPr sz="1200" b="0" i="0" u="none">
                  <a:solidFill>
                    <a:srgbClr val="000000"/>
                  </a:solidFill>
                  <a:latin typeface="Arial"/>
                </a:defRPr>
              </a:pPr>
              <a:endParaRPr/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smooth val="0"/>
        <c:axId val="2094734554"/>
        <c:axId val="2094734552"/>
        <c:axId val="2094734556"/>
      </c:lineChart>
      <c:catAx>
        <c:axId val="2094734554"/>
        <c:scaling>
          <c:orientation val="minMax"/>
        </c:scaling>
        <c:axPos val="b"/>
        <c:crossAx val="2094734552"/>
        <c:delete val="0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auto val="1"/>
        <c:lblAlgn val="ctr"/>
        <c:lblOffset val="100"/>
        <c:tickMarkSkip val="1"/>
        <c:noMultiLvlLbl val="1"/>
      </c:catAx>
      <c:valAx>
        <c:axId val="2094734552"/>
        <c:scaling>
          <c:orientation val="minMax"/>
          <c:max val="100"/>
          <c:min val="70"/>
        </c:scaling>
        <c:axPos val="l"/>
        <c:crossAx val="2094734554"/>
        <c:delete val="0"/>
        <c:majorGridlines>
          <c:spPr>
            <a:ln w="12700" cap="flat">
              <a:solidFill>
                <a:srgbClr val="dddddd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0" vert="horz" wrap="none" lIns="0" tIns="0" rIns="0" bIns="0" anchor="ctr" anchorCtr="1"/>
          <a:p>
            <a:pPr algn="l">
              <a:defRPr sz="1200" b="0" i="0" u="none">
                <a:solidFill>
                  <a:srgbClr val="002b5b"/>
                </a:solidFill>
                <a:latin typeface="Arial"/>
                <a:ea typeface="LG Smart UI Light"/>
                <a:cs typeface="LG Smart UI Light"/>
                <a:sym typeface="LG Smart UI Light"/>
              </a:defRPr>
            </a:pPr>
            <a:endParaRPr/>
          </a:p>
        </c:txPr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0"/>
    <c:dispBlanksAs val="gap"/>
  </c:chart>
  <c:txPr>
    <a:bodyPr rot="0" vert="horz" wrap="none" lIns="0" tIns="0" rIns="0" bIns="0" anchor="ctr" anchorCtr="1"/>
    <a:p>
      <a:pPr algn="l">
        <a:defRPr b="0" i="0" u="none">
          <a:ea typeface="LG Smart UI Bold"/>
          <a:cs typeface="LG Smart UI Bold"/>
          <a:sym typeface="LG Smart UI Bold"/>
        </a:defRPr>
      </a:pPr>
      <a:endParaRPr/>
    </a:p>
  </c:txPr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charts/chart2.xml><?xml version="1.0" encoding="utf-8"?>
<c:chartSpace xmlns:r="http://schemas.openxmlformats.org/officeDocument/2006/relationships" xmlns:a="http://schemas.openxmlformats.org/drawingml/2006/main" xmlns:c="http://schemas.openxmlformats.org/drawingml/2006/chart">
  <c:date1904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수수료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invertIfNegative val="0"/>
            <c:bubble3D val="0"/>
            <c:spPr>
              <a:solidFill>
                <a:srgbClr val="ffd20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 rot="0" vert="horz" wrap="none" lIns="0" tIns="0" rIns="0" bIns="0" anchor="ctr" anchorCtr="1"/>
                <a:p>
                  <a:pPr algn="l">
                    <a:defRPr sz="1200" b="0" i="0" u="none">
                      <a:solidFill>
                        <a:srgbClr val="002b5b"/>
                      </a:solidFill>
                      <a:latin typeface="Arial"/>
                    </a:defRPr>
                  </a:pPr>
                  <a:endParaRPr/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elete val="0"/>
            <c:numFmt formatCode="General" sourceLinked="0"/>
            <c:txPr>
              <a:bodyPr rot="0" vert="horz" wrap="none" lIns="0" tIns="0" rIns="0" bIns="0" anchor="ctr" anchorCtr="1"/>
              <a:p>
                <a:pPr algn="l">
                  <a:defRPr sz="1800" b="0" i="0" u="none">
                    <a:solidFill>
                      <a:srgbClr val="000000"/>
                    </a:solidFill>
                    <a:latin typeface="Arial"/>
                  </a:defRPr>
                </a:pPr>
                <a:endParaRPr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수수료</c:v>
                </c:pt>
                <c:pt idx="1">
                  <c:v>나머지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95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0"/>
    <c:dispBlanksAs val="gap"/>
  </c:chart>
  <c:spPr>
    <a:noFill/>
    <a:ln w="9525">
      <a:noFill/>
    </a:ln>
    <a:effectLst/>
  </c:spPr>
  <c:extLst>
    <c:ext uri="CC8EB2C9-7E31-499d-B8F2-F6CE61031016">
      <ho:hncChartStyle xmlns:ho="http://schemas.haansoft.com/office/8.0" layoutIndex="-1" colorIndex="-1" styleIndex="-1"/>
    </c:ext>
  </c:extLst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5282F153-3F37-0F45-9E97-73ACFA13230C}" type="datetime1">
              <a:rPr lang="en-US"/>
              <a:pPr lvl="0">
                <a:defRPr/>
              </a:pPr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CE5E9CC1-C706-0F49-92D6-E571CC5EEA8F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_cover_bg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FFE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175140" y="1828800"/>
            <a:ext cx="4324470" cy="2194560"/>
          </a:xfrm>
          <a:prstGeom prst="rect">
            <a:avLst/>
          </a:prstGeom>
          <a:noFill/>
          <a:ln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151515"/>
                </a:solidFill>
                <a:latin typeface="LG Smart UI Bold"/>
                <a:ea typeface="LG Smart UI Bold"/>
              </a:rPr>
              <a:t>지역 기반 공동구매 물류 거점 제안</a:t>
            </a:r>
            <a:endParaRPr lang="en-US" sz="2600" b="1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0" indent="0" algn="l">
              <a:buNone/>
              <a:defRPr/>
            </a:pPr>
            <a:r>
              <a:rPr lang="en-US" sz="1200" b="0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 방문 유입 및 추가 수익 창출 모델</a:t>
            </a:r>
            <a:endParaRPr lang="en-US" sz="2800">
              <a:latin typeface="LG Smart UI Bold"/>
              <a:ea typeface="LG Smart UI Bold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1" name="Rectangl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365760" y="7315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>
              <a:defRPr/>
            </a:pPr>
            <a:r>
              <a:rPr sz="1000" b="1">
                <a:solidFill>
                  <a:srgbClr val="FFE066"/>
                </a:solidFill>
                <a:latin typeface="Consolas"/>
              </a:rPr>
              <a:t>EMART EVERYDAY   ·   PROPOSAL   ·   2026.03</a:t>
            </a:r>
            <a:endParaRPr sz="1000" b="1">
              <a:solidFill>
                <a:srgbClr val="ffd200"/>
              </a:solidFill>
              <a:latin typeface="Consola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84048" y="1600200"/>
            <a:ext cx="548640" cy="36576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5" name="Rectangle 14"/>
          <p:cNvSpPr/>
          <p:nvPr/>
        </p:nvSpPr>
        <p:spPr>
          <a:xfrm>
            <a:off x="384048" y="4206240"/>
            <a:ext cx="731520" cy="27432"/>
          </a:xfrm>
          <a:prstGeom prst="rect">
            <a:avLst/>
          </a:prstGeom>
          <a:solidFill>
            <a:srgbClr val="1515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오프라인 점포 매출 환경 변화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4297680" cy="274320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온라인 커머스 확장으로 오프라인 방문 감소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가격 비교 문화 확대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단순 매대 중심 상품으로는 차별화 한계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지역 점포의 신규 방문 유도 전략 필요</a:t>
            </a:r>
            <a:endParaRPr lang="en-US" sz="17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46320" y="1371600"/>
          <a:ext cx="3840480" cy="228600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77724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8640" y="3867912"/>
            <a:ext cx="7589520" cy="5029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점포에 다시 방문할 이유를 만드는 구조가 필요합니다.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지역 공동구매 수령 거점 모델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1280160" cy="1280160"/>
          </a:xfrm>
          <a:prstGeom prst="ellipse">
            <a:avLst/>
          </a:prstGeom>
          <a:solidFill>
            <a:srgbClr val="FFF5B3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14400" y="2249424"/>
            <a:ext cx="548640" cy="438912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411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모집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943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834640" y="1828800"/>
            <a:ext cx="1280160" cy="1280160"/>
          </a:xfrm>
          <a:prstGeom prst="ellipse">
            <a:avLst/>
          </a:prstGeom>
          <a:solidFill>
            <a:srgbClr val="FFE377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00400" y="2225040"/>
            <a:ext cx="548640" cy="4876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697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진행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229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5120640" y="1828800"/>
            <a:ext cx="1280160" cy="1280160"/>
          </a:xfrm>
          <a:prstGeom prst="ellipse">
            <a:avLst/>
          </a:prstGeom>
          <a:solidFill>
            <a:srgbClr val="FFD23C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6400" y="2249424"/>
            <a:ext cx="548640" cy="438912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4983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6515100" y="2331720"/>
            <a:ext cx="73152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406640" y="1828800"/>
            <a:ext cx="1280160" cy="1280160"/>
          </a:xfrm>
          <a:prstGeom prst="ellipse">
            <a:avLst/>
          </a:prstGeom>
          <a:solidFill>
            <a:srgbClr val="FFC0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72400" y="2225040"/>
            <a:ext cx="548640" cy="48768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7269480" y="3154680"/>
            <a:ext cx="155448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457200" y="3914775"/>
            <a:ext cx="822960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>
                <a:solidFill>
                  <a:srgbClr val="666666"/>
                </a:solidFill>
                <a:latin typeface="LG Smart UI Bold"/>
                <a:ea typeface="LG Smart UI Bold"/>
              </a:rPr>
              <a:t>“</a:t>
            </a:r>
            <a:r>
              <a:rPr lang="en-US">
                <a:solidFill>
                  <a:srgbClr val="666666"/>
                </a:solidFill>
                <a:latin typeface="LG Smart UI Bold"/>
                <a:ea typeface="LG Smart UI Bold"/>
              </a:rPr>
              <a:t>이마트 에브리데이 점포를 지역 공동구매 상품의 수령 거점으로 활용</a:t>
            </a:r>
            <a:r>
              <a:rPr lang="en-US" altLang="ko-KR">
                <a:solidFill>
                  <a:srgbClr val="666666"/>
                </a:solidFill>
                <a:latin typeface="LG Smart UI Bold"/>
                <a:ea typeface="LG Smart UI Bold"/>
              </a:rPr>
              <a:t>”</a:t>
            </a:r>
            <a:endParaRPr lang="en-US" altLang="ko-KR">
              <a:solidFill>
                <a:srgbClr val="666666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점포에 제공되는 직접 수익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931920" cy="2011680"/>
          </a:xfrm>
          <a:prstGeom prst="rect">
            <a:avLst/>
          </a:prstGeom>
          <a:noFill/>
          <a:ln/>
        </p:spPr>
        <p:txBody>
          <a:bodyPr wrap="square" lIns="1269" tIns="1269" rIns="1269" bIns="1269" anchor="ctr"/>
          <a:lstStyle/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공동구매 판매 금액의 5% 수수료 지급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별도 인력 투입 없음</a:t>
            </a:r>
            <a:endParaRPr lang="en-US" sz="1700">
              <a:solidFill>
                <a:srgbClr val="151515"/>
              </a:solidFill>
              <a:latin typeface="LG Smart UI Bold"/>
              <a:ea typeface="LG Smart UI Bold"/>
            </a:endParaRPr>
          </a:p>
          <a:p>
            <a:pPr marL="190500" indent="-190500">
              <a:buSzPct val="100000"/>
              <a:buChar char="•"/>
              <a:defRPr/>
            </a:pPr>
            <a:r>
              <a:rPr lang="en-US" sz="1700">
                <a:solidFill>
                  <a:srgbClr val="151515"/>
                </a:solidFill>
                <a:latin typeface="LG Smart UI Bold"/>
                <a:ea typeface="LG Smart UI Bold"/>
              </a:rPr>
              <a:t>기존 공간 활용</a:t>
            </a:r>
            <a:endParaRPr lang="en-US" sz="1700">
              <a:latin typeface="LG Smart UI Bold"/>
              <a:ea typeface="LG Smart UI Bold"/>
            </a:endParaRPr>
          </a:p>
        </p:txBody>
      </p:sp>
      <p:graphicFrame>
        <p:nvGraphicFramePr>
          <p:cNvPr id="4" name="Chart 0"/>
          <p:cNvGraphicFramePr/>
          <p:nvPr/>
        </p:nvGraphicFramePr>
        <p:xfrm>
          <a:off x="4857966" y="914400"/>
          <a:ext cx="3657600" cy="2286000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4857966" y="3291840"/>
          <a:ext cx="3657600" cy="914400"/>
        </p:xfrm>
        <a:graphic>
          <a:graphicData uri="http://schemas.openxmlformats.org/drawingml/2006/table">
            <a:tbl>
              <a:tblPr firstRow="1" bandRow="1"/>
              <a:tblGrid>
                <a:gridCol w="1828800"/>
                <a:gridCol w="1828800"/>
              </a:tblGrid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항목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200" b="1">
                          <a:solidFill>
                            <a:srgbClr val="151515"/>
                          </a:solidFill>
                        </a:rPr>
                        <a:t>수치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1회 공구 매출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1,000만원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304800">
                <a:tc>
                  <a:txBody>
                    <a:bodyPr vert="horz" lIns="91440" tIns="45720" rIns="91440" bIns="45720" anchor="t" anchorCtr="0"/>
                    <a:p>
                      <a:pPr marL="0" indent="0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점포 수수료 (5%)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t" anchorCtr="0"/>
                    <a:p>
                      <a:pPr marL="0" indent="0" algn="r">
                        <a:buNone/>
                        <a:defRPr/>
                      </a:pPr>
                      <a:r>
                        <a:rPr lang="en-US" sz="1200">
                          <a:solidFill>
                            <a:srgbClr val="151515"/>
                          </a:solidFill>
                        </a:rPr>
                        <a:t>50만원</a:t>
                      </a:r>
                      <a:endParaRPr lang="en-US" sz="1200"/>
                    </a:p>
                  </a:txBody>
                  <a:tcPr marL="91440" marR="9144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02919" y="3566160"/>
            <a:ext cx="3931920" cy="640080"/>
          </a:xfrm>
          <a:prstGeom prst="roundRect">
            <a:avLst>
              <a:gd name="adj" fmla="val 14286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Text 3"/>
          <p:cNvSpPr/>
          <p:nvPr/>
        </p:nvSpPr>
        <p:spPr>
          <a:xfrm>
            <a:off x="548640" y="3584448"/>
            <a:ext cx="3840480" cy="60350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추가 고정비 없이 발생하는 순수 수익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방문 증가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43000" y="1910080"/>
            <a:ext cx="640080" cy="56896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6400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수령 필수 방문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6" name="Text 3"/>
          <p:cNvSpPr/>
          <p:nvPr/>
        </p:nvSpPr>
        <p:spPr>
          <a:xfrm>
            <a:off x="6400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공동구매 수령을 위해 </a:t>
            </a:r>
            <a:endParaRPr lang="en-US" sz="1200">
              <a:solidFill>
                <a:srgbClr val="666666"/>
              </a:solidFill>
              <a:latin typeface="LG Smart UI Bold"/>
              <a:ea typeface="LG Smart UI Bold"/>
            </a:endParaRPr>
          </a:p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방문이 필수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6576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926205" y="1874520"/>
            <a:ext cx="560070" cy="64008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33832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추가 구매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3832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방문 중 추가 구매 가능성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0" y="1645920"/>
            <a:ext cx="1097280" cy="109728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629400" y="1874520"/>
            <a:ext cx="640080" cy="64008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6126480" y="2834640"/>
            <a:ext cx="164592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재유입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126480" y="3063240"/>
            <a:ext cx="1645920" cy="6400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재유입 효과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22960" y="4065629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 algn="ctr"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914400" y="4083917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공동구매는 매출 이전에 방문 유입 전략입니다.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기존 공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동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구</a:t>
            </a:r>
            <a:r>
              <a:rPr lang="ko-KR" alt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매</a:t>
            </a: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 모델과의 차이</a:t>
            </a:r>
            <a:endParaRPr lang="en-US" sz="2000" b="1">
              <a:solidFill>
                <a:srgbClr val="002b5b"/>
              </a:solidFill>
              <a:latin typeface="LG Smart UI Bold"/>
              <a:ea typeface="LG Smart UI Bold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914400" y="1463040"/>
          <a:ext cx="7315200" cy="2286000"/>
        </p:xfrm>
        <a:graphic>
          <a:graphicData uri="http://schemas.openxmlformats.org/drawingml/2006/table">
            <a:tbl>
              <a:tblPr firstRow="1" bandRow="1"/>
              <a:tblGrid>
                <a:gridCol w="2438400"/>
                <a:gridCol w="2438400"/>
                <a:gridCol w="2438400"/>
              </a:tblGrid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기존 공</a:t>
                      </a:r>
                      <a:r>
                        <a:rPr lang="ko-KR" alt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동구매</a:t>
                      </a:r>
                      <a:endParaRPr lang="ko-KR" altLang="en-US" sz="1500" b="1">
                        <a:solidFill>
                          <a:srgbClr val="ffffff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151515"/>
                          </a:solidFill>
                          <a:latin typeface="LG Smart UI Bold"/>
                          <a:ea typeface="LG Smart UI Bold"/>
                        </a:rPr>
                        <a:t>제안 모델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fd200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공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   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간</a:t>
                      </a:r>
                      <a:endParaRPr lang="en-US" sz="1500" b="1">
                        <a:solidFill>
                          <a:srgbClr val="000000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임대 공간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활용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인</a:t>
                      </a:r>
                      <a:r>
                        <a:rPr lang="ko-KR" alt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    </a:t>
                      </a: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력</a:t>
                      </a:r>
                      <a:endParaRPr lang="en-US" sz="1500" b="1">
                        <a:solidFill>
                          <a:srgbClr val="000000"/>
                        </a:solidFill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상주 인력 필요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점포 수령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택배비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개별 택배비 발생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일괄 납품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0f4f8"/>
                    </a:solidFill>
                  </a:tcPr>
                </a:tc>
              </a:tr>
              <a:tr h="457200"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 b="1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운영비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부담 큼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indent="0" algn="ctr">
                        <a:buNone/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LG Smart UI Bold"/>
                          <a:ea typeface="LG Smart UI Bold"/>
                        </a:rPr>
                        <a:t>수수료 기반 구조</a:t>
                      </a:r>
                      <a:endParaRPr lang="en-US" sz="1500">
                        <a:latin typeface="LG Smart UI Bold"/>
                        <a:ea typeface="LG Smart UI Bold"/>
                      </a:endParaRPr>
                    </a:p>
                  </a:txBody>
                  <a:tcPr marL="91440" marR="9144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914400" y="4027170"/>
            <a:ext cx="7315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 sz="1700" i="1">
                <a:solidFill>
                  <a:srgbClr val="666666"/>
                </a:solidFill>
                <a:latin typeface="LG Smart UI Bold"/>
                <a:ea typeface="LG Smart UI Bold"/>
              </a:rPr>
              <a:t>“</a:t>
            </a:r>
            <a:r>
              <a:rPr lang="en-US" sz="1700" i="1">
                <a:solidFill>
                  <a:srgbClr val="666666"/>
                </a:solidFill>
                <a:latin typeface="LG Smart UI Bold"/>
                <a:ea typeface="LG Smart UI Bold"/>
              </a:rPr>
              <a:t>점포 유휴 공간을 활용한 비용 최소화 모델</a:t>
            </a:r>
            <a:r>
              <a:rPr lang="en-US" altLang="ko-KR" sz="1700" i="1">
                <a:solidFill>
                  <a:srgbClr val="666666"/>
                </a:solidFill>
                <a:latin typeface="LG Smart UI Bold"/>
                <a:ea typeface="LG Smart UI Bold"/>
              </a:rPr>
              <a:t>”</a:t>
            </a:r>
            <a:endParaRPr lang="en-US" altLang="ko-KR" sz="1700" i="1">
              <a:solidFill>
                <a:srgbClr val="666666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소비자 참여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46759" y="1943099"/>
            <a:ext cx="1028556" cy="1028556"/>
          </a:xfrm>
          <a:prstGeom prst="ellipse">
            <a:avLst/>
          </a:prstGeom>
          <a:solidFill>
            <a:srgbClr val="FFF5B3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88695" y="2225040"/>
            <a:ext cx="548640" cy="487680"/>
          </a:xfrm>
          <a:prstGeom prst="rect">
            <a:avLst/>
          </a:prstGeom>
          <a:ln/>
        </p:spPr>
      </p:pic>
      <p:sp>
        <p:nvSpPr>
          <p:cNvPr id="5" name="Text 2"/>
          <p:cNvSpPr/>
          <p:nvPr/>
        </p:nvSpPr>
        <p:spPr>
          <a:xfrm>
            <a:off x="53149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방문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84594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392679" y="1943099"/>
            <a:ext cx="1028556" cy="1028556"/>
          </a:xfrm>
          <a:prstGeom prst="ellipse">
            <a:avLst/>
          </a:prstGeom>
          <a:solidFill>
            <a:srgbClr val="FFE886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668905" y="2194560"/>
            <a:ext cx="480060" cy="548640"/>
          </a:xfrm>
          <a:prstGeom prst="rect">
            <a:avLst/>
          </a:prstGeom>
          <a:ln/>
        </p:spPr>
      </p:pic>
      <p:sp>
        <p:nvSpPr>
          <p:cNvPr id="9" name="Text 5"/>
          <p:cNvSpPr/>
          <p:nvPr/>
        </p:nvSpPr>
        <p:spPr>
          <a:xfrm>
            <a:off x="217741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QR 스캔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49186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038599" y="1943099"/>
            <a:ext cx="1028556" cy="1028556"/>
          </a:xfrm>
          <a:prstGeom prst="ellipse">
            <a:avLst/>
          </a:prstGeom>
          <a:solidFill>
            <a:srgbClr val="FFDA5A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280535" y="2148840"/>
            <a:ext cx="548640" cy="548640"/>
          </a:xfrm>
          <a:prstGeom prst="rect">
            <a:avLst/>
          </a:prstGeom>
          <a:ln/>
        </p:spPr>
      </p:pic>
      <p:sp>
        <p:nvSpPr>
          <p:cNvPr id="13" name="Text 8"/>
          <p:cNvSpPr/>
          <p:nvPr/>
        </p:nvSpPr>
        <p:spPr>
          <a:xfrm>
            <a:off x="382333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채널 구독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513778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5684519" y="1943099"/>
            <a:ext cx="1028556" cy="1028556"/>
          </a:xfrm>
          <a:prstGeom prst="ellipse">
            <a:avLst/>
          </a:prstGeom>
          <a:solidFill>
            <a:srgbClr val="FFCD2D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995035" y="2194560"/>
            <a:ext cx="411480" cy="548640"/>
          </a:xfrm>
          <a:prstGeom prst="rect">
            <a:avLst/>
          </a:prstGeom>
          <a:ln/>
        </p:spPr>
      </p:pic>
      <p:sp>
        <p:nvSpPr>
          <p:cNvPr id="17" name="Text 11"/>
          <p:cNvSpPr/>
          <p:nvPr/>
        </p:nvSpPr>
        <p:spPr>
          <a:xfrm>
            <a:off x="546925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공동구매 신청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6783705" y="2350770"/>
            <a:ext cx="487315" cy="230505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51515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7330439" y="1943099"/>
            <a:ext cx="1028556" cy="1028556"/>
          </a:xfrm>
          <a:prstGeom prst="ellipse">
            <a:avLst/>
          </a:prstGeom>
          <a:solidFill>
            <a:srgbClr val="FFC0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7606665" y="2194560"/>
            <a:ext cx="480060" cy="548640"/>
          </a:xfrm>
          <a:prstGeom prst="rect">
            <a:avLst/>
          </a:prstGeom>
          <a:ln/>
        </p:spPr>
      </p:pic>
      <p:sp>
        <p:nvSpPr>
          <p:cNvPr id="21" name="Text 14"/>
          <p:cNvSpPr/>
          <p:nvPr/>
        </p:nvSpPr>
        <p:spPr>
          <a:xfrm>
            <a:off x="7115175" y="3068955"/>
            <a:ext cx="1463040" cy="41148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914400" y="396049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005840" y="3978783"/>
            <a:ext cx="713232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온라인 유입 → 오프라인 방문 연결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공동구매 상품 전략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002030" y="170116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27760" y="1792605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550670" y="1609725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30~40% 할인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50670" y="1975485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시중가 대비 30~40% 할인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00600" y="1463040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16830" y="170116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242560" y="1792605"/>
            <a:ext cx="20574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665470" y="1609725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차별화 상품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665470" y="1975485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대기업 브랜드 중심이 아닌 차별화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85800" y="2779395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002030" y="3017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127760" y="3108960"/>
            <a:ext cx="20574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550670" y="29260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선공개·지역 한정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550670" y="32918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선공개 / 지역 한정 상품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00600" y="2779395"/>
            <a:ext cx="3474720" cy="1188720"/>
          </a:xfrm>
          <a:prstGeom prst="roundRect">
            <a:avLst>
              <a:gd name="adj" fmla="val 7692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116830" y="3017520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208270" y="3124200"/>
            <a:ext cx="274320" cy="24384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665470" y="2926080"/>
            <a:ext cx="274320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자체 기획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665470" y="3291840"/>
            <a:ext cx="27432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자체 기획 상품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914400" y="426529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960120" y="4283583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가격 경쟁이 아닌 차별화 상품 중심 전략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운영 프로세스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30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87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38606" y="2029968"/>
            <a:ext cx="246888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521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수량 확정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17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716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73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83458" y="2062886"/>
            <a:ext cx="329184" cy="263347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807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납품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03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002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59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69458" y="2048256"/>
            <a:ext cx="329184" cy="292608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5093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소비자 수령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589395" y="2331720"/>
            <a:ext cx="54864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288530" y="1743075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74573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855458" y="2048256"/>
            <a:ext cx="329184" cy="292608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379970" y="2468880"/>
            <a:ext cx="128016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5% 정산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3827145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3845433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점포 운영 부담 최소화 설계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점포 부담 최소화 설계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0485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329690" y="17202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421130" y="1839087"/>
            <a:ext cx="274320" cy="219456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878330" y="160134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설명 인력 불필요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878330" y="193052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QR 코드 안내 중심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819650" y="146304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44490" y="17202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553075" y="1811655"/>
            <a:ext cx="24003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5993130" y="160134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QR 안내 구조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5993130" y="193052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QR 활용 절차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0485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1329690" y="327469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421130" y="3366135"/>
            <a:ext cx="274320" cy="274320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1878330" y="315582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단순 수령 확인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1878330" y="348500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간단한 수령 확인 방식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19650" y="301752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44490" y="327469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553075" y="3366135"/>
            <a:ext cx="24003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5993130" y="3155823"/>
            <a:ext cx="2834640" cy="3657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단기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5993130" y="3485007"/>
            <a:ext cx="283464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단기 테스트 운영 가능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파일럿 운영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32688" y="2143506"/>
            <a:ext cx="329184" cy="292608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365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3~5개 점포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057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651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08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18688" y="2143506"/>
            <a:ext cx="329184" cy="292608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651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1~2개 상품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43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937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394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525262" y="2125218"/>
            <a:ext cx="288036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4937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3개월 운영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6629400" y="2331720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7223760" y="18288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680960" y="201549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790688" y="2125218"/>
            <a:ext cx="329184" cy="329184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223760" y="2609850"/>
            <a:ext cx="1554480" cy="45720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데이터 검증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2" name="Shape 16"/>
          <p:cNvSpPr/>
          <p:nvPr/>
        </p:nvSpPr>
        <p:spPr>
          <a:xfrm>
            <a:off x="914400" y="374142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60120" y="3759708"/>
            <a:ext cx="7223760" cy="512064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리스크 없는 실험 구조</a:t>
            </a:r>
            <a:endParaRPr lang="en-US" sz="14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기대 효과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857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28980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4710" y="1887855"/>
            <a:ext cx="205740" cy="274320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477620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방문 증가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1477620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방문 증가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289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672180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63620" y="1887855"/>
            <a:ext cx="274320" cy="274320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4220821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수익 확대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220821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점주 수익 확대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5972175" y="140779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415381" y="179641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506821" y="1915287"/>
            <a:ext cx="274320" cy="219456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6964021" y="165925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재활성화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964021" y="197929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지역 고객 재활성화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85775" y="287083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928980" y="325945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20420" y="3350895"/>
            <a:ext cx="274320" cy="274320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1477620" y="312229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마케팅 절감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1477620" y="344233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마케팅 비용 절감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3228975" y="2870835"/>
            <a:ext cx="2560320" cy="1280160"/>
          </a:xfrm>
          <a:prstGeom prst="roundRect">
            <a:avLst>
              <a:gd name="adj" fmla="val 7143"/>
            </a:avLst>
          </a:prstGeom>
          <a:solidFill>
            <a:srgbClr val="f0f4f8"/>
          </a:solidFill>
          <a:ln w="12700">
            <a:solidFill>
              <a:srgbClr val="e5e5e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3672180" y="3259455"/>
            <a:ext cx="457200" cy="4572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763620" y="3350895"/>
            <a:ext cx="274320" cy="274320"/>
          </a:xfrm>
          <a:prstGeom prst="rect">
            <a:avLst/>
          </a:prstGeom>
          <a:ln/>
        </p:spPr>
      </p:pic>
      <p:sp>
        <p:nvSpPr>
          <p:cNvPr id="26" name="Text 19"/>
          <p:cNvSpPr/>
          <p:nvPr/>
        </p:nvSpPr>
        <p:spPr>
          <a:xfrm>
            <a:off x="4220821" y="3122295"/>
            <a:ext cx="1920240" cy="3200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경쟁력 강화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7" name="Text 20"/>
          <p:cNvSpPr/>
          <p:nvPr/>
        </p:nvSpPr>
        <p:spPr>
          <a:xfrm>
            <a:off x="4220821" y="3442335"/>
            <a:ext cx="192024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66666"/>
                </a:solidFill>
                <a:latin typeface="LG Smart UI Bold"/>
                <a:ea typeface="LG Smart UI Bold"/>
              </a:rPr>
              <a:t>점포 경쟁력 강화</a:t>
            </a:r>
            <a:endParaRPr lang="en-US" sz="12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리스크 대응 방안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429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372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67562" y="2029968"/>
            <a:ext cx="288036" cy="329184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4800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초기 테스트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006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초기 테스트 운영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55270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14706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256788" y="2029968"/>
            <a:ext cx="329184" cy="329184"/>
          </a:xfrm>
          <a:prstGeom prst="rect">
            <a:avLst/>
          </a:prstGeom>
          <a:ln/>
        </p:spPr>
      </p:pic>
      <p:sp>
        <p:nvSpPr>
          <p:cNvPr id="11" name="Text 7"/>
          <p:cNvSpPr/>
          <p:nvPr/>
        </p:nvSpPr>
        <p:spPr>
          <a:xfrm>
            <a:off x="268986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판매 부진시 종료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2" name="Text 8"/>
          <p:cNvSpPr/>
          <p:nvPr/>
        </p:nvSpPr>
        <p:spPr>
          <a:xfrm>
            <a:off x="2684648" y="2788920"/>
            <a:ext cx="1626366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판매 부진 시 종료 가능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7815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3759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85638" y="2029968"/>
            <a:ext cx="329184" cy="329184"/>
          </a:xfrm>
          <a:prstGeom prst="rect">
            <a:avLst/>
          </a:prstGeom>
          <a:ln/>
        </p:spPr>
      </p:pic>
      <p:sp>
        <p:nvSpPr>
          <p:cNvPr id="16" name="Text 11"/>
          <p:cNvSpPr/>
          <p:nvPr/>
        </p:nvSpPr>
        <p:spPr>
          <a:xfrm>
            <a:off x="49187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사은품 남용 방지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9187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사은품 남용 방지 설계</a:t>
            </a:r>
            <a:endParaRPr lang="en-US" sz="1300">
              <a:latin typeface="LG Smart UI Bold"/>
              <a:ea typeface="LG Smart UI Bold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953250" y="1828800"/>
            <a:ext cx="1828800" cy="146304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12700">
            <a:solidFill>
              <a:srgbClr val="dddddd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7547610" y="1920240"/>
            <a:ext cx="548640" cy="54864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657338" y="2062886"/>
            <a:ext cx="329184" cy="263347"/>
          </a:xfrm>
          <a:prstGeom prst="rect">
            <a:avLst/>
          </a:prstGeom>
          <a:ln/>
        </p:spPr>
      </p:pic>
      <p:sp>
        <p:nvSpPr>
          <p:cNvPr id="21" name="Text 15"/>
          <p:cNvSpPr/>
          <p:nvPr/>
        </p:nvSpPr>
        <p:spPr>
          <a:xfrm>
            <a:off x="7090410" y="2514600"/>
            <a:ext cx="1554480" cy="27432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151515"/>
                </a:solidFill>
                <a:latin typeface="LG Smart UI Bold"/>
                <a:ea typeface="LG Smart UI Bold"/>
              </a:rPr>
              <a:t>운영 간소화</a:t>
            </a:r>
            <a:endParaRPr lang="en-US" sz="1600">
              <a:latin typeface="LG Smart UI Bold"/>
              <a:ea typeface="LG Smart UI Bold"/>
            </a:endParaRPr>
          </a:p>
        </p:txBody>
      </p:sp>
      <p:sp>
        <p:nvSpPr>
          <p:cNvPr id="22" name="Text 16"/>
          <p:cNvSpPr/>
          <p:nvPr/>
        </p:nvSpPr>
        <p:spPr>
          <a:xfrm>
            <a:off x="7090410" y="2788920"/>
            <a:ext cx="155448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666666"/>
                </a:solidFill>
                <a:latin typeface="LG Smart UI Bold"/>
                <a:ea typeface="LG Smart UI Bold"/>
              </a:rPr>
              <a:t>점포 운영 간소화</a:t>
            </a:r>
            <a:endParaRPr lang="en-US" sz="1300"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20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에브리데이와의 협력 제안</a:t>
            </a:r>
            <a:endParaRPr lang="en-US" sz="2000">
              <a:latin typeface="LG Smart UI Bold"/>
              <a:ea typeface="LG Smart UI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21792" y="1456944"/>
            <a:ext cx="219456" cy="195072"/>
          </a:xfrm>
          <a:prstGeom prst="rect">
            <a:avLst/>
          </a:prstGeom>
          <a:ln/>
        </p:spPr>
      </p:pic>
      <p:sp>
        <p:nvSpPr>
          <p:cNvPr id="6" name="Text 3"/>
          <p:cNvSpPr/>
          <p:nvPr/>
        </p:nvSpPr>
        <p:spPr>
          <a:xfrm>
            <a:off x="1005840" y="13990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점포 유휴 역량을 활용한 추가 수익 모델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649224" y="2130552"/>
            <a:ext cx="164592" cy="219456"/>
          </a:xfrm>
          <a:prstGeom prst="rect">
            <a:avLst/>
          </a:prstGeom>
          <a:ln/>
        </p:spPr>
      </p:pic>
      <p:sp>
        <p:nvSpPr>
          <p:cNvPr id="10" name="Text 6"/>
          <p:cNvSpPr/>
          <p:nvPr/>
        </p:nvSpPr>
        <p:spPr>
          <a:xfrm>
            <a:off x="1005840" y="20848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방문 유입 중심 구조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57200" y="26517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27432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21792" y="2828544"/>
            <a:ext cx="219456" cy="195072"/>
          </a:xfrm>
          <a:prstGeom prst="rect">
            <a:avLst/>
          </a:prstGeom>
          <a:ln/>
        </p:spPr>
      </p:pic>
      <p:sp>
        <p:nvSpPr>
          <p:cNvPr id="14" name="Text 9"/>
          <p:cNvSpPr/>
          <p:nvPr/>
        </p:nvSpPr>
        <p:spPr>
          <a:xfrm>
            <a:off x="1005840" y="27706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비용 부담 최소화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457200" y="3337560"/>
            <a:ext cx="54864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3429000"/>
            <a:ext cx="365760" cy="36576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621792" y="3502152"/>
            <a:ext cx="219456" cy="219456"/>
          </a:xfrm>
          <a:prstGeom prst="rect">
            <a:avLst/>
          </a:prstGeom>
          <a:ln/>
        </p:spPr>
      </p:pic>
      <p:sp>
        <p:nvSpPr>
          <p:cNvPr id="18" name="Text 12"/>
          <p:cNvSpPr/>
          <p:nvPr/>
        </p:nvSpPr>
        <p:spPr>
          <a:xfrm>
            <a:off x="1005840" y="3456432"/>
            <a:ext cx="4846320" cy="310896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51515"/>
                </a:solidFill>
                <a:latin typeface="LG Smart UI Bold"/>
                <a:ea typeface="LG Smart UI Bold"/>
              </a:rPr>
              <a:t>파일럿을 통한 검증 가능</a:t>
            </a:r>
            <a:endParaRPr lang="en-US" sz="1200">
              <a:latin typeface="LG Smart UI Bold"/>
              <a:ea typeface="LG Smart UI Bold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858000" y="1965960"/>
            <a:ext cx="1371600" cy="1097280"/>
          </a:xfrm>
          <a:prstGeom prst="rect">
            <a:avLst/>
          </a:prstGeom>
          <a:ln/>
        </p:spPr>
      </p:pic>
      <p:sp>
        <p:nvSpPr>
          <p:cNvPr id="21" name="Shape 14"/>
          <p:cNvSpPr/>
          <p:nvPr/>
        </p:nvSpPr>
        <p:spPr>
          <a:xfrm>
            <a:off x="457200" y="4063712"/>
            <a:ext cx="8229600" cy="662796"/>
          </a:xfrm>
          <a:prstGeom prst="roundRect">
            <a:avLst>
              <a:gd name="adj" fmla="val 10000"/>
            </a:avLst>
          </a:prstGeom>
          <a:solidFill>
            <a:srgbClr val="ffd200"/>
          </a:solidFill>
          <a:ln w="15875">
            <a:solidFill>
              <a:srgbClr val="151515"/>
            </a:solidFill>
            <a:prstDash val="solid"/>
          </a:ln>
        </p:spPr>
        <p:txBody>
          <a:bodyPr/>
          <a:p>
            <a:pPr>
              <a:defRPr/>
            </a:pPr>
            <a:endParaRPr lang="ko-KR" altLang="en-US">
              <a:latin typeface="LG Smart UI Bold"/>
              <a:ea typeface="LG Smart UI Bold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48640" y="3977640"/>
            <a:ext cx="8046720" cy="822960"/>
          </a:xfrm>
          <a:prstGeom prst="rect">
            <a:avLst/>
          </a:prstGeom>
          <a:noFill/>
          <a:ln/>
        </p:spPr>
        <p:txBody>
          <a:bodyPr wrap="square" anchor="ctr"/>
          <a:lstStyle/>
          <a:p>
            <a:pPr marL="0" indent="0" algn="ctr">
              <a:buNone/>
              <a:defRPr/>
            </a:pPr>
            <a:r>
              <a:rPr lang="en-US" altLang="ko-KR" sz="1400" b="1">
                <a:solidFill>
                  <a:srgbClr val="151515"/>
                </a:solidFill>
                <a:latin typeface="LG Smart UI Bold"/>
                <a:ea typeface="LG Smart UI Bold"/>
              </a:rPr>
              <a:t>“</a:t>
            </a:r>
            <a:r>
              <a:rPr lang="en-US" sz="1400" b="1">
                <a:solidFill>
                  <a:srgbClr val="151515"/>
                </a:solidFill>
                <a:latin typeface="LG Smart UI Bold"/>
                <a:ea typeface="LG Smart UI Bold"/>
              </a:rPr>
              <a:t>이마트 에브리데이 점포에 실질적 이익을 제공하는 구조를 제안드립니다.</a:t>
            </a:r>
            <a:r>
              <a:rPr lang="en-US" altLang="ko-KR" sz="1400" b="1">
                <a:solidFill>
                  <a:srgbClr val="151515"/>
                </a:solidFill>
                <a:latin typeface="LG Smart UI Bold"/>
                <a:ea typeface="LG Smart UI Bold"/>
              </a:rPr>
              <a:t>”</a:t>
            </a:r>
            <a:endParaRPr lang="en-US" altLang="ko-KR" sz="1400" b="1">
              <a:solidFill>
                <a:srgbClr val="151515"/>
              </a:solidFill>
              <a:latin typeface="LG Smart UI Bold"/>
              <a:ea typeface="LG Smart UI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383</ep:Words>
  <ep:PresentationFormat>On-screen Show (16:9)</ep:PresentationFormat>
  <ep:Paragraphs>95</ep:Paragraphs>
  <ep:Slides>14</ep:Slides>
  <ep:Notes>14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2026-03-01T12:12:56.000</dcterms:created>
  <dc:creator>PptxGenJS</dc:creator>
  <cp:lastModifiedBy>dhchd</cp:lastModifiedBy>
  <dcterms:modified xsi:type="dcterms:W3CDTF">2026-04-20T12:11:46.665</dcterms:modified>
  <cp:revision>8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