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51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216" y="312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presProps" Target="presProps.xml"  /><Relationship Id="rId18" Type="http://schemas.openxmlformats.org/officeDocument/2006/relationships/viewProps" Target="viewProps.xml"  /><Relationship Id="rId19" Type="http://schemas.openxmlformats.org/officeDocument/2006/relationships/theme" Target="theme/theme1.xml"  /><Relationship Id="rId2" Type="http://schemas.openxmlformats.org/officeDocument/2006/relationships/notesMaster" Target="notesMasters/notesMaster1.xml"  /><Relationship Id="rId20" Type="http://schemas.openxmlformats.org/officeDocument/2006/relationships/tableStyles" Target="tableStyles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charts/_rels/chart1.xml.rels><?xml version="1.0" encoding="UTF-8" standalone="yes" ?><Relationships xmlns="http://schemas.openxmlformats.org/package/2006/relationships"><Relationship Id="rId1" Type="http://schemas.openxmlformats.org/officeDocument/2006/relationships/package" Target="../embeddings/Worksheet1.xlsx"  /></Relationships>
</file>

<file path=ppt/charts/_rels/chart2.xml.rels><?xml version="1.0" encoding="UTF-8" standalone="yes" ?><Relationships xmlns="http://schemas.openxmlformats.org/package/2006/relationships"><Relationship Id="rId1" Type="http://schemas.openxmlformats.org/officeDocument/2006/relationships/package" Target="../embeddings/Worksheet2.xlsx"  /></Relationships>
</file>

<file path=ppt/charts/chart1.xml><?xml version="1.0" encoding="utf-8"?>
<c:chartSpace xmlns:r="http://schemas.openxmlformats.org/officeDocument/2006/relationships" xmlns:a="http://schemas.openxmlformats.org/drawingml/2006/main" xmlns:c="http://schemas.openxmlformats.org/drawingml/2006/chart">
  <c:date1904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roundedCorners val="0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 지수</c:v>
                </c:pt>
              </c:strCache>
            </c:strRef>
          </c:tx>
          <c:spPr>
            <a:solidFill>
              <a:srgbClr val="1f6bba"/>
            </a:solidFill>
            <a:ln w="25400" cap="flat" cmpd="sng">
              <a:solidFill>
                <a:srgbClr val="1f6bba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1f6bba"/>
              </a:solidFill>
              <a:ln w="9525" cap="flat" cmpd="sng">
                <a:solidFill>
                  <a:srgbClr val="1f6bba"/>
                </a:solidFill>
                <a:prstDash val="solid"/>
                <a:round/>
              </a:ln>
              <a:effectLst/>
            </c:spPr>
          </c:marker>
          <c:dLbls>
            <c:delete val="0"/>
            <c:numFmt formatCode="#,##0" sourceLinked="0"/>
            <c:txPr>
              <a:bodyPr rot="0" vert="horz" wrap="none" lIns="0" tIns="0" rIns="0" bIns="0" anchor="ctr" anchorCtr="1"/>
              <a:p>
                <a:pPr algn="l">
                  <a:defRPr sz="1200" b="0" i="0" u="none">
                    <a:solidFill>
                      <a:srgbClr val="000000"/>
                    </a:solidFill>
                    <a:latin typeface="Arial"/>
                  </a:defRPr>
                </a:pPr>
                <a:endParaRPr/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92</c:v>
                </c:pt>
                <c:pt idx="2">
                  <c:v>85</c:v>
                </c:pt>
                <c:pt idx="3">
                  <c:v>80</c:v>
                </c:pt>
                <c:pt idx="4">
                  <c:v>73</c:v>
                </c:pt>
              </c:numCache>
            </c:numRef>
          </c:val>
          <c:smooth val="0"/>
        </c:ser>
        <c:dLbls>
          <c:delete val="0"/>
          <c:numFmt formatCode="#,##0" sourceLinked="0"/>
          <c:txPr>
            <a:bodyPr rot="0" vert="horz" wrap="none" lIns="0" tIns="0" rIns="0" bIns="0" anchor="ctr" anchorCtr="1"/>
            <a:p>
              <a:pPr algn="l">
                <a:defRPr sz="1200" b="0" i="0" u="none">
                  <a:solidFill>
                    <a:srgbClr val="000000"/>
                  </a:solidFill>
                  <a:latin typeface="Arial"/>
                </a:defRPr>
              </a:pPr>
              <a:endParaRPr/>
            </a:p>
          </c:txPr>
          <c:dLblPos val="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smooth val="0"/>
        <c:axId val="2094734554"/>
        <c:axId val="2094734552"/>
        <c:axId val="2094734556"/>
      </c:lineChart>
      <c:catAx>
        <c:axId val="2094734554"/>
        <c:scaling>
          <c:orientation val="minMax"/>
        </c:scaling>
        <c:axPos val="b"/>
        <c:crossAx val="2094734552"/>
        <c:delete val="0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 vert="horz" wrap="none" lIns="0" tIns="0" rIns="0" bIns="0" anchor="ctr" anchorCtr="1"/>
          <a:p>
            <a:pPr algn="l">
              <a:defRPr sz="1200" b="0" i="0" u="none">
                <a:solidFill>
                  <a:srgbClr val="002b5b"/>
                </a:solidFill>
                <a:latin typeface="Arial"/>
                <a:ea typeface="LG Smart UI Light"/>
                <a:cs typeface="LG Smart UI Light"/>
                <a:sym typeface="LG Smart UI Light"/>
              </a:defRPr>
            </a:pPr>
            <a:endParaRPr/>
          </a:p>
        </c:txPr>
        <c:crosses val="autoZero"/>
        <c:auto val="1"/>
        <c:lblAlgn val="ctr"/>
        <c:lblOffset val="100"/>
        <c:tickMarkSkip val="1"/>
        <c:noMultiLvlLbl val="1"/>
      </c:catAx>
      <c:valAx>
        <c:axId val="2094734552"/>
        <c:scaling>
          <c:orientation val="minMax"/>
          <c:max val="100"/>
          <c:min val="70"/>
        </c:scaling>
        <c:axPos val="l"/>
        <c:crossAx val="2094734554"/>
        <c:delete val="0"/>
        <c:majorGridlines>
          <c:spPr>
            <a:ln w="12700" cap="flat">
              <a:solidFill>
                <a:srgbClr val="dddddd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 vert="horz" wrap="none" lIns="0" tIns="0" rIns="0" bIns="0" anchor="ctr" anchorCtr="1"/>
          <a:p>
            <a:pPr algn="l">
              <a:defRPr sz="1200" b="0" i="0" u="none">
                <a:solidFill>
                  <a:srgbClr val="002b5b"/>
                </a:solidFill>
                <a:latin typeface="Arial"/>
                <a:ea typeface="LG Smart UI Light"/>
                <a:cs typeface="LG Smart UI Light"/>
                <a:sym typeface="LG Smart UI Light"/>
              </a:defRPr>
            </a:pPr>
            <a:endParaRPr/>
          </a:p>
        </c:txPr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0"/>
    <c:dispBlanksAs val="gap"/>
  </c:chart>
  <c:txPr>
    <a:bodyPr rot="0" vert="horz" wrap="none" lIns="0" tIns="0" rIns="0" bIns="0" anchor="ctr" anchorCtr="1"/>
    <a:p>
      <a:pPr algn="l">
        <a:defRPr b="0" i="0" u="none">
          <a:ea typeface="LG Smart UI Bold"/>
          <a:cs typeface="LG Smart UI Bold"/>
          <a:sym typeface="LG Smart UI Bold"/>
        </a:defRPr>
      </a:pPr>
      <a:endParaRPr/>
    </a:p>
  </c:txPr>
  <c:spPr>
    <a:noFill/>
    <a:ln w="9525">
      <a:noFill/>
    </a:ln>
    <a:effectLst/>
  </c:spPr>
  <c:extLst>
    <c:ext uri="CC8EB2C9-7E31-499d-B8F2-F6CE61031016">
      <ho:hncChartStyle xmlns:ho="http://schemas.haansoft.com/office/8.0" layoutIndex="-1" colorIndex="-1" styleIndex="-1"/>
    </c:ext>
  </c:extLst>
  <c:externalData r:id="rId1">
    <c:autoUpdate val="0"/>
  </c:externalData>
</c:chartSpace>
</file>

<file path=ppt/charts/chart2.xml><?xml version="1.0" encoding="utf-8"?>
<c:chartSpace xmlns:r="http://schemas.openxmlformats.org/officeDocument/2006/relationships" xmlns:a="http://schemas.openxmlformats.org/drawingml/2006/main" xmlns:c="http://schemas.openxmlformats.org/drawingml/2006/chart">
  <c:date1904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수수료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invertIfNegative val="0"/>
            <c:bubble3D val="0"/>
            <c:spPr>
              <a:solidFill>
                <a:srgbClr val="1f6bb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ddddd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 rot="0" vert="horz" wrap="none" lIns="0" tIns="0" rIns="0" bIns="0" anchor="ctr" anchorCtr="1"/>
                <a:p>
                  <a:pPr algn="l">
                    <a:defRPr sz="1200" b="0" i="0" u="none">
                      <a:solidFill>
                        <a:srgbClr val="002b5b"/>
                      </a:solidFill>
                      <a:latin typeface="Arial"/>
                    </a:defRPr>
                  </a:pPr>
                  <a:endParaRPr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 rot="0" vert="horz" wrap="none" lIns="0" tIns="0" rIns="0" bIns="0" anchor="ctr" anchorCtr="1"/>
                <a:p>
                  <a:pPr algn="l">
                    <a:defRPr sz="1200" b="0" i="0" u="none">
                      <a:solidFill>
                        <a:srgbClr val="002b5b"/>
                      </a:solidFill>
                      <a:latin typeface="Arial"/>
                    </a:defRPr>
                  </a:pPr>
                  <a:endParaRPr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elete val="0"/>
            <c:numFmt formatCode="General" sourceLinked="0"/>
            <c:txPr>
              <a:bodyPr rot="0" vert="horz" wrap="none" lIns="0" tIns="0" rIns="0" bIns="0" anchor="ctr" anchorCtr="1"/>
              <a:p>
                <a:pPr algn="l">
                  <a:defRPr sz="1800" b="0" i="0" u="none">
                    <a:solidFill>
                      <a:srgbClr val="000000"/>
                    </a:solidFill>
                    <a:latin typeface="Arial"/>
                  </a:defRPr>
                </a:pPr>
                <a:endParaRPr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수수료</c:v>
                </c:pt>
                <c:pt idx="1">
                  <c:v>나머지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</c:v>
                </c:pt>
                <c:pt idx="1">
                  <c:v>95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ayout/>
      <c:overlay val="0"/>
    </c:legend>
    <c:plotVisOnly val="0"/>
    <c:dispBlanksAs val="gap"/>
  </c:chart>
  <c:spPr>
    <a:noFill/>
    <a:ln w="9525">
      <a:noFill/>
    </a:ln>
    <a:effectLst/>
  </c:spPr>
  <c:extLst>
    <c:ext uri="CC8EB2C9-7E31-499d-B8F2-F6CE61031016">
      <ho:hncChartStyle xmlns:ho="http://schemas.haansoft.com/office/8.0" layoutIndex="-1" colorIndex="-1" styleIndex="-1"/>
    </c:ext>
  </c:extLst>
  <c:externalData r:id="rId1">
    <c:autoUpdate val="0"/>
  </c:externalData>
</c:chartSpace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5282F153-3F37-0F45-9E97-73ACFA13230C}" type="datetime1">
              <a:rPr lang="en-US"/>
              <a:pPr lvl="0">
                <a:defRPr/>
              </a:pPr>
              <a:t>3/1/2026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CE5E9CC1-C706-0F49-92D6-E571CC5EEA8F}" type="slidenum">
              <a:rPr lang="en-US"/>
              <a:pPr lvl="0"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slide" Target="../slides/slide8.xml"  /><Relationship Id="rId2" Type="http://schemas.openxmlformats.org/officeDocument/2006/relationships/notesMaster" Target="../notesMasters/notesMaster1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slide" Target="../slides/slide9.xml"  /><Relationship Id="rId2" Type="http://schemas.openxmlformats.org/officeDocument/2006/relationships/notesMaster" Target="../notesMasters/notesMaster1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slide" Target="../slides/slide10.xml"  /><Relationship Id="rId2" Type="http://schemas.openxmlformats.org/officeDocument/2006/relationships/notesMaster" Target="../notesMasters/notesMaster1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1.xml"  /><Relationship Id="rId2" Type="http://schemas.openxmlformats.org/officeDocument/2006/relationships/notesMaster" Target="../notesMasters/notesMaster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slide" Target="../slides/slide12.xml"  /><Relationship Id="rId2" Type="http://schemas.openxmlformats.org/officeDocument/2006/relationships/notesMaster" Target="../notesMasters/notesMaster1.xml"  /></Relationships>
</file>

<file path=ppt/notesSlides/_rels/notesSlide13.xml.rels><?xml version="1.0" encoding="UTF-8" standalone="yes" ?><Relationships xmlns="http://schemas.openxmlformats.org/package/2006/relationships"><Relationship Id="rId1" Type="http://schemas.openxmlformats.org/officeDocument/2006/relationships/slide" Target="../slides/slide13.xml"  /><Relationship Id="rId2" Type="http://schemas.openxmlformats.org/officeDocument/2006/relationships/notesMaster" Target="../notesMasters/notesMaster1.xml"  /></Relationships>
</file>

<file path=ppt/notesSlides/_rels/notesSlide14.xml.rels><?xml version="1.0" encoding="UTF-8" standalone="yes" ?><Relationships xmlns="http://schemas.openxmlformats.org/package/2006/relationships"><Relationship Id="rId1" Type="http://schemas.openxmlformats.org/officeDocument/2006/relationships/slide" Target="../slides/slide14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1.xml"  /><Relationship Id="rId3" Type="http://schemas.openxmlformats.org/officeDocument/2006/relationships/chart" Target="../charts/chart1.xml"  /><Relationship Id="rId4" Type="http://schemas.openxmlformats.org/officeDocument/2006/relationships/hyperlink" Target="www.ijprems.com/ijprems-paper/the-rise-of-e-commerce-analyzing-its-impact-on-offline-retail-and-consumer-behaviour#:~:text=faced%20declining%20foot%20traffic%2C%20increased,behaviour%20has%20undergone%20a%20significant" TargetMode="External"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Relationship Id="rId4" Type="http://schemas.openxmlformats.org/officeDocument/2006/relationships/image" Target="../media/image2.png"  /><Relationship Id="rId5" Type="http://schemas.openxmlformats.org/officeDocument/2006/relationships/image" Target="../media/image3.png"  /><Relationship Id="rId6" Type="http://schemas.openxmlformats.org/officeDocument/2006/relationships/image" Target="../media/image4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1.xml"  /><Relationship Id="rId3" Type="http://schemas.openxmlformats.org/officeDocument/2006/relationships/chart" Target="../charts/chart2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5.png"  /><Relationship Id="rId4" Type="http://schemas.openxmlformats.org/officeDocument/2006/relationships/image" Target="../media/image6.png"  /><Relationship Id="rId5" Type="http://schemas.openxmlformats.org/officeDocument/2006/relationships/image" Target="../media/image7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2" Type="http://schemas.openxmlformats.org/officeDocument/2006/relationships/slideLayout" Target="../slideLayouts/slideLayout1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8.png"  /><Relationship Id="rId4" Type="http://schemas.openxmlformats.org/officeDocument/2006/relationships/image" Target="../media/image9.png"  /><Relationship Id="rId5" Type="http://schemas.openxmlformats.org/officeDocument/2006/relationships/image" Target="../media/image10.png"  /><Relationship Id="rId6" Type="http://schemas.openxmlformats.org/officeDocument/2006/relationships/image" Target="../media/image11.png"  /><Relationship Id="rId7" Type="http://schemas.openxmlformats.org/officeDocument/2006/relationships/image" Target="../media/image12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8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3.png"  /><Relationship Id="rId4" Type="http://schemas.openxmlformats.org/officeDocument/2006/relationships/image" Target="../media/image14.png"  /><Relationship Id="rId5" Type="http://schemas.openxmlformats.org/officeDocument/2006/relationships/image" Target="../media/image15.png"  /><Relationship Id="rId6" Type="http://schemas.openxmlformats.org/officeDocument/2006/relationships/image" Target="../media/image16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9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7.png"  /><Relationship Id="rId4" Type="http://schemas.openxmlformats.org/officeDocument/2006/relationships/image" Target="../media/image18.png"  /><Relationship Id="rId5" Type="http://schemas.openxmlformats.org/officeDocument/2006/relationships/image" Target="../media/image19.png"  /><Relationship Id="rId6" Type="http://schemas.openxmlformats.org/officeDocument/2006/relationships/image" Target="../media/image20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0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21.png"  /><Relationship Id="rId4" Type="http://schemas.openxmlformats.org/officeDocument/2006/relationships/image" Target="../media/image22.png"  /><Relationship Id="rId5" Type="http://schemas.openxmlformats.org/officeDocument/2006/relationships/image" Target="../media/image23.png"  /><Relationship Id="rId6" Type="http://schemas.openxmlformats.org/officeDocument/2006/relationships/image" Target="../media/image24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1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25.png"  /><Relationship Id="rId4" Type="http://schemas.openxmlformats.org/officeDocument/2006/relationships/image" Target="../media/image26.png"  /><Relationship Id="rId5" Type="http://schemas.openxmlformats.org/officeDocument/2006/relationships/image" Target="../media/image27.png"  /><Relationship Id="rId6" Type="http://schemas.openxmlformats.org/officeDocument/2006/relationships/image" Target="../media/image28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2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29.png"  /><Relationship Id="rId4" Type="http://schemas.openxmlformats.org/officeDocument/2006/relationships/image" Target="../media/image30.png"  /><Relationship Id="rId5" Type="http://schemas.openxmlformats.org/officeDocument/2006/relationships/image" Target="../media/image31.png"  /><Relationship Id="rId6" Type="http://schemas.openxmlformats.org/officeDocument/2006/relationships/image" Target="../media/image32.png"  /><Relationship Id="rId7" Type="http://schemas.openxmlformats.org/officeDocument/2006/relationships/image" Target="../media/image33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3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34.png"  /><Relationship Id="rId4" Type="http://schemas.openxmlformats.org/officeDocument/2006/relationships/image" Target="../media/image35.png"  /><Relationship Id="rId5" Type="http://schemas.openxmlformats.org/officeDocument/2006/relationships/image" Target="../media/image36.png"  /><Relationship Id="rId6" Type="http://schemas.openxmlformats.org/officeDocument/2006/relationships/image" Target="../media/image37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4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38.png"  /><Relationship Id="rId4" Type="http://schemas.openxmlformats.org/officeDocument/2006/relationships/image" Target="../media/image39.png"  /><Relationship Id="rId5" Type="http://schemas.openxmlformats.org/officeDocument/2006/relationships/image" Target="../media/image40.png"  /><Relationship Id="rId6" Type="http://schemas.openxmlformats.org/officeDocument/2006/relationships/image" Target="../media/image41.png"  /><Relationship Id="rId7" Type="http://schemas.openxmlformats.org/officeDocument/2006/relationships/image" Target="../media/image42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">
    <p:bg>
      <p:bgPr shadeToTitle="0"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457200" y="1371600"/>
            <a:ext cx="5121215" cy="228600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l">
              <a:buNone/>
              <a:defRPr/>
            </a:pPr>
            <a:r>
              <a:rPr lang="en-US" sz="2800" b="1">
                <a:solidFill>
                  <a:srgbClr val="002b5b"/>
                </a:solidFill>
                <a:latin typeface="LG Smart UI Bold"/>
                <a:ea typeface="LG Smart UI Bold"/>
              </a:rPr>
              <a:t>지역 기반 공동구매 물류 거점 제안</a:t>
            </a:r>
            <a:endParaRPr lang="en-US" sz="2800" b="1">
              <a:solidFill>
                <a:srgbClr val="002b5b"/>
              </a:solidFill>
              <a:latin typeface="LG Smart UI Bold"/>
              <a:ea typeface="LG Smart UI Bold"/>
            </a:endParaRPr>
          </a:p>
          <a:p>
            <a:pPr marL="0" indent="0" algn="l">
              <a:buNone/>
              <a:defRPr/>
            </a:pPr>
            <a:r>
              <a:rPr lang="en-US" sz="1600">
                <a:solidFill>
                  <a:srgbClr val="1f6bba"/>
                </a:solidFill>
                <a:latin typeface="LG Smart UI Bold"/>
                <a:ea typeface="LG Smart UI Bold"/>
              </a:rPr>
              <a:t>이마트 에브리데이 점포 방문 유입 및 추가 수익 창출 모델</a:t>
            </a:r>
            <a:endParaRPr lang="en-US" sz="2800">
              <a:latin typeface="LG Smart UI Bold"/>
              <a:ea typeface="LG Smart UI Bold"/>
            </a:endParaRPr>
          </a:p>
        </p:txBody>
      </p:sp>
      <p:sp>
        <p:nvSpPr>
          <p:cNvPr id="5" name="Text 2"/>
          <p:cNvSpPr/>
          <p:nvPr/>
        </p:nvSpPr>
        <p:spPr>
          <a:xfrm>
            <a:off x="457200" y="4411980"/>
            <a:ext cx="213360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666666"/>
                </a:solidFill>
              </a:rPr>
              <a:t>제안사명</a:t>
            </a:r>
            <a:endParaRPr lang="en-US" sz="1000"/>
          </a:p>
        </p:txBody>
      </p:sp>
      <p:sp>
        <p:nvSpPr>
          <p:cNvPr id="6" name="Text 3"/>
          <p:cNvSpPr/>
          <p:nvPr/>
        </p:nvSpPr>
        <p:spPr>
          <a:xfrm>
            <a:off x="3505200" y="4411980"/>
            <a:ext cx="213360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666666"/>
                </a:solidFill>
              </a:rPr>
              <a:t>제안일: 2026-03-01</a:t>
            </a:r>
            <a:endParaRPr lang="en-US" sz="1000"/>
          </a:p>
        </p:txBody>
      </p:sp>
      <p:sp>
        <p:nvSpPr>
          <p:cNvPr id="7" name="Text 4"/>
          <p:cNvSpPr/>
          <p:nvPr/>
        </p:nvSpPr>
        <p:spPr>
          <a:xfrm>
            <a:off x="6553200" y="4411980"/>
            <a:ext cx="213360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666666"/>
                </a:solidFill>
              </a:rPr>
              <a:t>담당자 연락처: 010-0000-0000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2">
    <p:bg>
      <p:bgPr shadeToTitle="0"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002b5b"/>
                </a:solidFill>
                <a:latin typeface="LG Smart UI Bold"/>
                <a:ea typeface="LG Smart UI Bold"/>
              </a:rPr>
              <a:t>오프라인 점포 매출 환경 변화</a:t>
            </a:r>
            <a:endParaRPr lang="en-US" sz="2000">
              <a:latin typeface="LG Smart UI Bold"/>
              <a:ea typeface="LG Smart UI Bold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4297680" cy="2743200"/>
          </a:xfrm>
          <a:prstGeom prst="rect">
            <a:avLst/>
          </a:prstGeom>
          <a:noFill/>
          <a:ln/>
        </p:spPr>
        <p:txBody>
          <a:bodyPr wrap="square" lIns="1269" tIns="1269" rIns="1269" bIns="1269" anchor="ctr"/>
          <a:lstStyle/>
          <a:p>
            <a:pPr marL="190500" indent="-190500">
              <a:buSzPct val="100000"/>
              <a:buChar char="•"/>
              <a:defRPr/>
            </a:pPr>
            <a:r>
              <a:rPr lang="en-US" sz="1200">
                <a:solidFill>
                  <a:srgbClr val="002b5b"/>
                </a:solidFill>
                <a:latin typeface="LG Smart UI Bold"/>
                <a:ea typeface="LG Smart UI Bold"/>
              </a:rPr>
              <a:t>온라인 커머스 확장으로 오프라인 방문 감소</a:t>
            </a:r>
            <a:endParaRPr lang="en-US" sz="1200">
              <a:solidFill>
                <a:srgbClr val="002b5b"/>
              </a:solidFill>
              <a:latin typeface="LG Smart UI Bold"/>
              <a:ea typeface="LG Smart UI Bold"/>
            </a:endParaRPr>
          </a:p>
          <a:p>
            <a:pPr marL="190500" indent="-190500">
              <a:buSzPct val="100000"/>
              <a:buChar char="•"/>
              <a:defRPr/>
            </a:pPr>
            <a:r>
              <a:rPr lang="en-US" sz="1200">
                <a:solidFill>
                  <a:srgbClr val="002b5b"/>
                </a:solidFill>
                <a:latin typeface="LG Smart UI Bold"/>
                <a:ea typeface="LG Smart UI Bold"/>
              </a:rPr>
              <a:t>가격 비교 문화 확대</a:t>
            </a:r>
            <a:endParaRPr lang="en-US" sz="1200">
              <a:solidFill>
                <a:srgbClr val="002b5b"/>
              </a:solidFill>
              <a:latin typeface="LG Smart UI Bold"/>
              <a:ea typeface="LG Smart UI Bold"/>
            </a:endParaRPr>
          </a:p>
          <a:p>
            <a:pPr marL="190500" indent="-190500">
              <a:buSzPct val="100000"/>
              <a:buChar char="•"/>
              <a:defRPr/>
            </a:pPr>
            <a:r>
              <a:rPr lang="en-US" sz="1200">
                <a:solidFill>
                  <a:srgbClr val="002b5b"/>
                </a:solidFill>
                <a:latin typeface="LG Smart UI Bold"/>
                <a:ea typeface="LG Smart UI Bold"/>
              </a:rPr>
              <a:t>단순 매대 중심 상품으로는 차별화 한계</a:t>
            </a:r>
            <a:endParaRPr lang="en-US" sz="1200">
              <a:solidFill>
                <a:srgbClr val="002b5b"/>
              </a:solidFill>
              <a:latin typeface="LG Smart UI Bold"/>
              <a:ea typeface="LG Smart UI Bold"/>
            </a:endParaRPr>
          </a:p>
          <a:p>
            <a:pPr marL="190500" indent="-190500">
              <a:buSzPct val="100000"/>
              <a:buChar char="•"/>
              <a:defRPr/>
            </a:pPr>
            <a:r>
              <a:rPr lang="en-US" sz="1200">
                <a:solidFill>
                  <a:srgbClr val="002b5b"/>
                </a:solidFill>
                <a:latin typeface="LG Smart UI Bold"/>
                <a:ea typeface="LG Smart UI Bold"/>
              </a:rPr>
              <a:t>지역 점포의 신규 방문 유도 전략 필요</a:t>
            </a:r>
            <a:endParaRPr lang="en-US" sz="1200">
              <a:latin typeface="LG Smart UI Bold"/>
              <a:ea typeface="LG Smart UI Bold"/>
            </a:endParaRPr>
          </a:p>
        </p:txBody>
      </p:sp>
      <p:graphicFrame>
        <p:nvGraphicFramePr>
          <p:cNvPr id="4" name="Chart 0"/>
          <p:cNvGraphicFramePr/>
          <p:nvPr/>
        </p:nvGraphicFramePr>
        <p:xfrm>
          <a:off x="4846320" y="1371600"/>
          <a:ext cx="3840480" cy="228600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840480"/>
            <a:ext cx="7772400" cy="548640"/>
          </a:xfrm>
          <a:prstGeom prst="roundRect">
            <a:avLst>
              <a:gd name="adj" fmla="val 16667"/>
            </a:avLst>
          </a:prstGeom>
          <a:solidFill>
            <a:srgbClr val="002b5b"/>
          </a:solidFill>
          <a:ln w="12700">
            <a:solidFill>
              <a:srgbClr val="002b5b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6" name="Text 3"/>
          <p:cNvSpPr/>
          <p:nvPr/>
        </p:nvSpPr>
        <p:spPr>
          <a:xfrm>
            <a:off x="548640" y="3867912"/>
            <a:ext cx="7589520" cy="5029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l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LG Smart UI Bold"/>
                <a:ea typeface="LG Smart UI Bold"/>
              </a:rPr>
              <a:t>점포에 다시 방문할 이유를 만드는 구조가 필요합니다.</a:t>
            </a:r>
            <a:endParaRPr lang="en-US" sz="1400">
              <a:latin typeface="LG Smart UI Bold"/>
              <a:ea typeface="LG Smart UI Bold"/>
            </a:endParaRPr>
          </a:p>
        </p:txBody>
      </p:sp>
      <p:sp>
        <p:nvSpPr>
          <p:cNvPr id="7" name="Text 4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600" u="sng">
                <a:solidFill>
                  <a:srgbClr val="002b5b"/>
                </a:solidFill>
                <a:latin typeface="LG Smart UI Bold"/>
                <a:ea typeface="LG Smart UI Bold"/>
                <a:hlinkClick r:id="rId4"/>
              </a:rPr>
              <a:t>[1]</a:t>
            </a:r>
            <a:endParaRPr lang="en-US" sz="600">
              <a:latin typeface="LG Smart UI Bold"/>
              <a:ea typeface="LG Smart UI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3">
    <p:bg>
      <p:bgPr shadeToTitle="0"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002b5b"/>
                </a:solidFill>
                <a:latin typeface="LG Smart UI Bold"/>
                <a:ea typeface="LG Smart UI Bold"/>
              </a:rPr>
              <a:t>지역 공동구매 수령 거점 모델</a:t>
            </a:r>
            <a:endParaRPr lang="en-US" sz="2000">
              <a:latin typeface="LG Smart UI Bold"/>
              <a:ea typeface="LG Smart UI Bold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1280160" cy="1280160"/>
          </a:xfrm>
          <a:prstGeom prst="ellipse">
            <a:avLst/>
          </a:prstGeom>
          <a:solidFill>
            <a:srgbClr val="74a9d8"/>
          </a:solidFill>
          <a:ln w="12700">
            <a:solidFill>
              <a:srgbClr val="74a9d8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14400" y="214884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3154680"/>
            <a:ext cx="155448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002b5b"/>
                </a:solidFill>
                <a:latin typeface="LG Smart UI Bold"/>
                <a:ea typeface="LG Smart UI Bold"/>
              </a:rPr>
              <a:t>소비자 모집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6" name="Shape 3"/>
          <p:cNvSpPr/>
          <p:nvPr/>
        </p:nvSpPr>
        <p:spPr>
          <a:xfrm>
            <a:off x="1828800" y="2331720"/>
            <a:ext cx="73152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f6bba"/>
          </a:solidFill>
          <a:ln w="12700">
            <a:solidFill>
              <a:srgbClr val="1f6bba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7" name="Shape 4"/>
          <p:cNvSpPr/>
          <p:nvPr/>
        </p:nvSpPr>
        <p:spPr>
          <a:xfrm>
            <a:off x="2834640" y="1828800"/>
            <a:ext cx="1280160" cy="1280160"/>
          </a:xfrm>
          <a:prstGeom prst="ellipse">
            <a:avLst/>
          </a:prstGeom>
          <a:solidFill>
            <a:srgbClr val="74a9d8"/>
          </a:solidFill>
          <a:ln w="12700">
            <a:solidFill>
              <a:srgbClr val="74a9d8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3200400" y="2148840"/>
            <a:ext cx="548640" cy="548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697480" y="3154680"/>
            <a:ext cx="155448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002b5b"/>
                </a:solidFill>
                <a:latin typeface="LG Smart UI Bold"/>
                <a:ea typeface="LG Smart UI Bold"/>
              </a:rPr>
              <a:t>공동구매 진행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4114800" y="2331720"/>
            <a:ext cx="73152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f6bba"/>
          </a:solidFill>
          <a:ln w="12700">
            <a:solidFill>
              <a:srgbClr val="1f6bba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5120640" y="1828800"/>
            <a:ext cx="1280160" cy="1280160"/>
          </a:xfrm>
          <a:prstGeom prst="ellipse">
            <a:avLst/>
          </a:prstGeom>
          <a:solidFill>
            <a:srgbClr val="74a9d8"/>
          </a:solidFill>
          <a:ln w="12700">
            <a:solidFill>
              <a:srgbClr val="74a9d8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5486400" y="2148840"/>
            <a:ext cx="548640" cy="5486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983480" y="3154680"/>
            <a:ext cx="155448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002b5b"/>
                </a:solidFill>
                <a:latin typeface="LG Smart UI Bold"/>
                <a:ea typeface="LG Smart UI Bold"/>
              </a:rPr>
              <a:t>점포 납품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6400800" y="2331720"/>
            <a:ext cx="73152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f6bba"/>
          </a:solidFill>
          <a:ln w="12700">
            <a:solidFill>
              <a:srgbClr val="1f6bba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7406640" y="1828800"/>
            <a:ext cx="1280160" cy="1280160"/>
          </a:xfrm>
          <a:prstGeom prst="ellipse">
            <a:avLst/>
          </a:prstGeom>
          <a:solidFill>
            <a:srgbClr val="74a9d8"/>
          </a:solidFill>
          <a:ln w="12700">
            <a:solidFill>
              <a:srgbClr val="74a9d8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7772400" y="2148840"/>
            <a:ext cx="548640" cy="5486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269480" y="3154680"/>
            <a:ext cx="155448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002b5b"/>
                </a:solidFill>
                <a:latin typeface="LG Smart UI Bold"/>
                <a:ea typeface="LG Smart UI Bold"/>
              </a:rPr>
              <a:t>소비자 수령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666666"/>
                </a:solidFill>
                <a:latin typeface="LG Smart UI Bold"/>
                <a:ea typeface="LG Smart UI Bold"/>
              </a:rPr>
              <a:t>이마트 에브리데이 점포를 지역 공동구매 상품의 수령 거점으로 활용</a:t>
            </a:r>
            <a:endParaRPr lang="en-US" sz="1200">
              <a:latin typeface="LG Smart UI Bold"/>
              <a:ea typeface="LG Smart UI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4">
    <p:bg>
      <p:bgPr shadeToTitle="0"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002b5b"/>
                </a:solidFill>
                <a:latin typeface="LG Smart UI Bold"/>
                <a:ea typeface="LG Smart UI Bold"/>
              </a:rPr>
              <a:t>점포에 제공되는 직접 수익</a:t>
            </a:r>
            <a:endParaRPr lang="en-US" sz="2000">
              <a:latin typeface="LG Smart UI Bold"/>
              <a:ea typeface="LG Smart UI Bold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3931920" cy="2011680"/>
          </a:xfrm>
          <a:prstGeom prst="rect">
            <a:avLst/>
          </a:prstGeom>
          <a:noFill/>
          <a:ln/>
        </p:spPr>
        <p:txBody>
          <a:bodyPr wrap="square" lIns="1269" tIns="1269" rIns="1269" bIns="1269" anchor="ctr"/>
          <a:lstStyle/>
          <a:p>
            <a:pPr marL="190500" indent="-190500">
              <a:buSzPct val="100000"/>
              <a:buChar char="•"/>
              <a:defRPr/>
            </a:pPr>
            <a:r>
              <a:rPr lang="en-US" sz="1200">
                <a:solidFill>
                  <a:srgbClr val="002b5b"/>
                </a:solidFill>
                <a:latin typeface="LG Smart UI Bold"/>
                <a:ea typeface="LG Smart UI Bold"/>
              </a:rPr>
              <a:t>공동구매 판매 금액의 5% 수수료 지급</a:t>
            </a:r>
            <a:endParaRPr lang="en-US" sz="1200">
              <a:solidFill>
                <a:srgbClr val="002b5b"/>
              </a:solidFill>
              <a:latin typeface="LG Smart UI Bold"/>
              <a:ea typeface="LG Smart UI Bold"/>
            </a:endParaRPr>
          </a:p>
          <a:p>
            <a:pPr marL="190500" indent="-190500">
              <a:buSzPct val="100000"/>
              <a:buChar char="•"/>
              <a:defRPr/>
            </a:pPr>
            <a:r>
              <a:rPr lang="en-US" sz="1200">
                <a:solidFill>
                  <a:srgbClr val="002b5b"/>
                </a:solidFill>
                <a:latin typeface="LG Smart UI Bold"/>
                <a:ea typeface="LG Smart UI Bold"/>
              </a:rPr>
              <a:t>별도 인력 투입 없음</a:t>
            </a:r>
            <a:endParaRPr lang="en-US" sz="1200">
              <a:solidFill>
                <a:srgbClr val="002b5b"/>
              </a:solidFill>
              <a:latin typeface="LG Smart UI Bold"/>
              <a:ea typeface="LG Smart UI Bold"/>
            </a:endParaRPr>
          </a:p>
          <a:p>
            <a:pPr marL="190500" indent="-190500">
              <a:buSzPct val="100000"/>
              <a:buChar char="•"/>
              <a:defRPr/>
            </a:pPr>
            <a:r>
              <a:rPr lang="en-US" sz="1200">
                <a:solidFill>
                  <a:srgbClr val="002b5b"/>
                </a:solidFill>
                <a:latin typeface="LG Smart UI Bold"/>
                <a:ea typeface="LG Smart UI Bold"/>
              </a:rPr>
              <a:t>기존 공간 활용</a:t>
            </a:r>
            <a:endParaRPr lang="en-US" sz="1200">
              <a:latin typeface="LG Smart UI Bold"/>
              <a:ea typeface="LG Smart UI Bold"/>
            </a:endParaRPr>
          </a:p>
        </p:txBody>
      </p:sp>
      <p:graphicFrame>
        <p:nvGraphicFramePr>
          <p:cNvPr id="4" name="Chart 0"/>
          <p:cNvGraphicFramePr/>
          <p:nvPr/>
        </p:nvGraphicFramePr>
        <p:xfrm>
          <a:off x="4480560" y="1371600"/>
          <a:ext cx="3657600" cy="2286000"/>
        </p:xfrm>
        <a:graphic>
          <a:graphicData uri="http://schemas.openxmlformats.org/drawingml/2006/chart">
            <c:chart r:id="rId3"/>
          </a:graphicData>
        </a:graphic>
      </p:graphicFrame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4480560" y="3749040"/>
          <a:ext cx="3657600" cy="914400"/>
        </p:xfrm>
        <a:graphic>
          <a:graphicData uri="http://schemas.openxmlformats.org/drawingml/2006/table">
            <a:tbl>
              <a:tblGrid>
                <a:gridCol w="1828800"/>
                <a:gridCol w="1828800"/>
              </a:tblGrid>
              <a:tr h="304800">
                <a:tc>
                  <a:txBody>
                    <a:bodyPr vert="horz" lIns="91440" tIns="45720" rIns="91440" bIns="45720" anchor="t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200"/>
                    </a:p>
                  </a:txBody>
                  <a:tcPr marL="91440" marR="9144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1f6bba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수치</a:t>
                      </a:r>
                      <a:endParaRPr lang="en-US" sz="1200"/>
                    </a:p>
                  </a:txBody>
                  <a:tcPr marL="91440" marR="9144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1f6bba"/>
                    </a:solidFill>
                  </a:tcPr>
                </a:tc>
              </a:tr>
              <a:tr h="304800">
                <a:tc>
                  <a:txBody>
                    <a:bodyPr vert="horz" lIns="91440" tIns="45720" rIns="91440" bIns="45720" anchor="t" anchorCtr="0"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rgbClr val="002b5b"/>
                          </a:solidFill>
                        </a:rPr>
                        <a:t>1회 공구 매출</a:t>
                      </a:r>
                      <a:endParaRPr lang="en-US" sz="1200"/>
                    </a:p>
                  </a:txBody>
                  <a:tcPr marL="91440" marR="9144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marL="0" indent="0" algn="r">
                        <a:buNone/>
                        <a:defRPr/>
                      </a:pPr>
                      <a:r>
                        <a:rPr lang="en-US" sz="1200">
                          <a:solidFill>
                            <a:srgbClr val="002b5b"/>
                          </a:solidFill>
                        </a:rPr>
                        <a:t>1,000만원</a:t>
                      </a:r>
                      <a:endParaRPr lang="en-US" sz="1200"/>
                    </a:p>
                  </a:txBody>
                  <a:tcPr marL="91440" marR="9144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5f5f5"/>
                    </a:solidFill>
                  </a:tcPr>
                </a:tc>
              </a:tr>
              <a:tr h="304800">
                <a:tc>
                  <a:txBody>
                    <a:bodyPr vert="horz" lIns="91440" tIns="45720" rIns="91440" bIns="45720" anchor="t" anchorCtr="0"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rgbClr val="002b5b"/>
                          </a:solidFill>
                        </a:rPr>
                        <a:t>점포 수수료 (5%)</a:t>
                      </a:r>
                      <a:endParaRPr lang="en-US" sz="1200"/>
                    </a:p>
                  </a:txBody>
                  <a:tcPr marL="91440" marR="9144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marL="0" indent="0" algn="r">
                        <a:buNone/>
                        <a:defRPr/>
                      </a:pPr>
                      <a:r>
                        <a:rPr lang="en-US" sz="1200">
                          <a:solidFill>
                            <a:srgbClr val="002b5b"/>
                          </a:solidFill>
                        </a:rPr>
                        <a:t>50만원</a:t>
                      </a:r>
                      <a:endParaRPr lang="en-US" sz="1200"/>
                    </a:p>
                  </a:txBody>
                  <a:tcPr marL="91440" marR="9144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4206240"/>
            <a:ext cx="3931920" cy="640080"/>
          </a:xfrm>
          <a:prstGeom prst="roundRect">
            <a:avLst>
              <a:gd name="adj" fmla="val 14286"/>
            </a:avLst>
          </a:prstGeom>
          <a:solidFill>
            <a:srgbClr val="002b5b"/>
          </a:solidFill>
          <a:ln w="12700">
            <a:solidFill>
              <a:srgbClr val="002b5b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7" name="Text 3"/>
          <p:cNvSpPr/>
          <p:nvPr/>
        </p:nvSpPr>
        <p:spPr>
          <a:xfrm>
            <a:off x="502920" y="4224528"/>
            <a:ext cx="3840480" cy="603504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l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LG Smart UI Bold"/>
                <a:ea typeface="LG Smart UI Bold"/>
              </a:rPr>
              <a:t>추가 고정비 없이 발생하는 순수 수익 구조</a:t>
            </a:r>
            <a:endParaRPr lang="en-US" sz="1400">
              <a:latin typeface="LG Smart UI Bold"/>
              <a:ea typeface="LG Smart UI Bold"/>
            </a:endParaRPr>
          </a:p>
        </p:txBody>
      </p:sp>
      <p:sp>
        <p:nvSpPr>
          <p:cNvPr id="8" name="Text 4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endParaRPr lang="en-US" sz="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5">
    <p:bg>
      <p:bgPr shadeToTitle="0"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002b5b"/>
                </a:solidFill>
                <a:latin typeface="LG Smart UI Bold"/>
                <a:ea typeface="LG Smart UI Bold"/>
              </a:rPr>
              <a:t>점포 방문 증가 효과</a:t>
            </a:r>
            <a:endParaRPr lang="en-US" sz="2000">
              <a:latin typeface="LG Smart UI Bold"/>
              <a:ea typeface="LG Smart UI Bold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14400" y="1645920"/>
            <a:ext cx="1097280" cy="1097280"/>
          </a:xfrm>
          <a:prstGeom prst="ellipse">
            <a:avLst/>
          </a:prstGeom>
          <a:solidFill>
            <a:srgbClr val="74a9d8"/>
          </a:solidFill>
          <a:ln w="12700">
            <a:solidFill>
              <a:srgbClr val="74a9d8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143000" y="187452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834640"/>
            <a:ext cx="164592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002b5b"/>
                </a:solidFill>
                <a:latin typeface="LG Smart UI Bold"/>
                <a:ea typeface="LG Smart UI Bold"/>
              </a:rPr>
              <a:t>수령 필수 방문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6" name="Text 3"/>
          <p:cNvSpPr/>
          <p:nvPr/>
        </p:nvSpPr>
        <p:spPr>
          <a:xfrm>
            <a:off x="640080" y="3063240"/>
            <a:ext cx="1645920" cy="64008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666666"/>
                </a:solidFill>
                <a:latin typeface="LG Smart UI Bold"/>
                <a:ea typeface="LG Smart UI Bold"/>
              </a:rPr>
              <a:t>공동구매 수령을 위해 점포 방문이 필수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7" name="Shape 4"/>
          <p:cNvSpPr/>
          <p:nvPr/>
        </p:nvSpPr>
        <p:spPr>
          <a:xfrm>
            <a:off x="3657600" y="1645920"/>
            <a:ext cx="1097280" cy="1097280"/>
          </a:xfrm>
          <a:prstGeom prst="ellipse">
            <a:avLst/>
          </a:prstGeom>
          <a:solidFill>
            <a:srgbClr val="74a9d8"/>
          </a:solidFill>
          <a:ln w="12700">
            <a:solidFill>
              <a:srgbClr val="74a9d8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3886200" y="1874520"/>
            <a:ext cx="640080" cy="640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83280" y="2834640"/>
            <a:ext cx="164592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002b5b"/>
                </a:solidFill>
                <a:latin typeface="LG Smart UI Bold"/>
                <a:ea typeface="LG Smart UI Bold"/>
              </a:rPr>
              <a:t>추가 구매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10" name="Text 6"/>
          <p:cNvSpPr/>
          <p:nvPr/>
        </p:nvSpPr>
        <p:spPr>
          <a:xfrm>
            <a:off x="3383280" y="3063240"/>
            <a:ext cx="1645920" cy="64008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666666"/>
                </a:solidFill>
                <a:latin typeface="LG Smart UI Bold"/>
                <a:ea typeface="LG Smart UI Bold"/>
              </a:rPr>
              <a:t>방문 중 추가 구매 가능성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6400800" y="1645920"/>
            <a:ext cx="1097280" cy="1097280"/>
          </a:xfrm>
          <a:prstGeom prst="ellipse">
            <a:avLst/>
          </a:prstGeom>
          <a:solidFill>
            <a:srgbClr val="74a9d8"/>
          </a:solidFill>
          <a:ln w="12700">
            <a:solidFill>
              <a:srgbClr val="74a9d8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6629400" y="1874520"/>
            <a:ext cx="640080" cy="6400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126480" y="2834640"/>
            <a:ext cx="164592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002b5b"/>
                </a:solidFill>
                <a:latin typeface="LG Smart UI Bold"/>
                <a:ea typeface="LG Smart UI Bold"/>
              </a:rPr>
              <a:t>재유입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14" name="Text 9"/>
          <p:cNvSpPr/>
          <p:nvPr/>
        </p:nvSpPr>
        <p:spPr>
          <a:xfrm>
            <a:off x="6126480" y="3063240"/>
            <a:ext cx="1645920" cy="64008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666666"/>
                </a:solidFill>
                <a:latin typeface="LG Smart UI Bold"/>
                <a:ea typeface="LG Smart UI Bold"/>
              </a:rPr>
              <a:t>지역 고객 재유입 효과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914400" y="4389120"/>
            <a:ext cx="7315200" cy="548640"/>
          </a:xfrm>
          <a:prstGeom prst="roundRect">
            <a:avLst>
              <a:gd name="adj" fmla="val 16667"/>
            </a:avLst>
          </a:prstGeom>
          <a:solidFill>
            <a:srgbClr val="002b5b"/>
          </a:solidFill>
          <a:ln w="12700">
            <a:solidFill>
              <a:srgbClr val="002b5b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1005840" y="4407408"/>
            <a:ext cx="7132320" cy="512064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l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LG Smart UI Bold"/>
                <a:ea typeface="LG Smart UI Bold"/>
              </a:rPr>
              <a:t>공동구매는 매출 이전에 방문 유입 전략입니다.</a:t>
            </a:r>
            <a:endParaRPr lang="en-US" sz="1400">
              <a:latin typeface="LG Smart UI Bold"/>
              <a:ea typeface="LG Smart UI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6">
    <p:bg>
      <p:bgPr shadeToTitle="0"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002b5b"/>
                </a:solidFill>
                <a:latin typeface="LG Smart UI Bold"/>
                <a:ea typeface="LG Smart UI Bold"/>
              </a:rPr>
              <a:t>기존 공</a:t>
            </a:r>
            <a:r>
              <a:rPr lang="ko-KR" altLang="en-US" sz="2000" b="1">
                <a:solidFill>
                  <a:srgbClr val="002b5b"/>
                </a:solidFill>
                <a:latin typeface="LG Smart UI Bold"/>
                <a:ea typeface="LG Smart UI Bold"/>
              </a:rPr>
              <a:t>동</a:t>
            </a:r>
            <a:r>
              <a:rPr lang="en-US" sz="2000" b="1">
                <a:solidFill>
                  <a:srgbClr val="002b5b"/>
                </a:solidFill>
                <a:latin typeface="LG Smart UI Bold"/>
                <a:ea typeface="LG Smart UI Bold"/>
              </a:rPr>
              <a:t>구</a:t>
            </a:r>
            <a:r>
              <a:rPr lang="ko-KR" altLang="en-US" sz="2000" b="1">
                <a:solidFill>
                  <a:srgbClr val="002b5b"/>
                </a:solidFill>
                <a:latin typeface="LG Smart UI Bold"/>
                <a:ea typeface="LG Smart UI Bold"/>
              </a:rPr>
              <a:t>매</a:t>
            </a:r>
            <a:r>
              <a:rPr lang="en-US" sz="2000" b="1">
                <a:solidFill>
                  <a:srgbClr val="002b5b"/>
                </a:solidFill>
                <a:latin typeface="LG Smart UI Bold"/>
                <a:ea typeface="LG Smart UI Bold"/>
              </a:rPr>
              <a:t> 모델과의 차이</a:t>
            </a:r>
            <a:endParaRPr lang="en-US" sz="2000" b="1">
              <a:solidFill>
                <a:srgbClr val="002b5b"/>
              </a:solidFill>
              <a:latin typeface="LG Smart UI Bold"/>
              <a:ea typeface="LG Smart UI Bold"/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914400" y="1463040"/>
          <a:ext cx="7315200" cy="2286000"/>
        </p:xfrm>
        <a:graphic>
          <a:graphicData uri="http://schemas.openxmlformats.org/drawingml/2006/table">
            <a:tbl>
              <a:tblGrid>
                <a:gridCol w="2438400"/>
                <a:gridCol w="2438400"/>
                <a:gridCol w="2438400"/>
              </a:tblGrid>
              <a:tr h="457200"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endParaRPr lang="en-US" sz="1500">
                        <a:latin typeface="LG Smart UI Bold"/>
                        <a:ea typeface="LG Smart UI Bold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1f6bba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LG Smart UI Bold"/>
                          <a:ea typeface="LG Smart UI Bold"/>
                        </a:rPr>
                        <a:t>기존 공</a:t>
                      </a:r>
                      <a:r>
                        <a:rPr lang="ko-KR" altLang="en-US" sz="1500" b="1">
                          <a:solidFill>
                            <a:srgbClr val="ffffff"/>
                          </a:solidFill>
                          <a:latin typeface="LG Smart UI Bold"/>
                          <a:ea typeface="LG Smart UI Bold"/>
                        </a:rPr>
                        <a:t>동구매</a:t>
                      </a:r>
                      <a:endParaRPr lang="ko-KR" altLang="en-US" sz="1500" b="1">
                        <a:solidFill>
                          <a:srgbClr val="ffffff"/>
                        </a:solidFill>
                        <a:latin typeface="LG Smart UI Bold"/>
                        <a:ea typeface="LG Smart UI Bold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1f6bba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LG Smart UI Bold"/>
                          <a:ea typeface="LG Smart UI Bold"/>
                        </a:rPr>
                        <a:t>제안 모델</a:t>
                      </a:r>
                      <a:endParaRPr lang="en-US" sz="1500">
                        <a:latin typeface="LG Smart UI Bold"/>
                        <a:ea typeface="LG Smart UI Bold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1f6bba"/>
                    </a:solidFill>
                  </a:tcPr>
                </a:tc>
              </a:tr>
              <a:tr h="457200"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LG Smart UI Bold"/>
                          <a:ea typeface="LG Smart UI Bold"/>
                        </a:rPr>
                        <a:t>공간</a:t>
                      </a:r>
                      <a:endParaRPr lang="en-US" sz="1500">
                        <a:latin typeface="LG Smart UI Bold"/>
                        <a:ea typeface="LG Smart UI Bold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LG Smart UI Bold"/>
                          <a:ea typeface="LG Smart UI Bold"/>
                        </a:rPr>
                        <a:t>임대 공간 필요</a:t>
                      </a:r>
                      <a:endParaRPr lang="en-US" sz="1500">
                        <a:latin typeface="LG Smart UI Bold"/>
                        <a:ea typeface="LG Smart UI Bold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LG Smart UI Bold"/>
                          <a:ea typeface="LG Smart UI Bold"/>
                        </a:rPr>
                        <a:t>점포 활용</a:t>
                      </a:r>
                      <a:endParaRPr lang="en-US" sz="1500">
                        <a:latin typeface="LG Smart UI Bold"/>
                        <a:ea typeface="LG Smart UI Bold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LG Smart UI Bold"/>
                          <a:ea typeface="LG Smart UI Bold"/>
                        </a:rPr>
                        <a:t>인력</a:t>
                      </a:r>
                      <a:endParaRPr lang="en-US" sz="1500">
                        <a:latin typeface="LG Smart UI Bold"/>
                        <a:ea typeface="LG Smart UI Bold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LG Smart UI Bold"/>
                          <a:ea typeface="LG Smart UI Bold"/>
                        </a:rPr>
                        <a:t>상주 인력 필요</a:t>
                      </a:r>
                      <a:endParaRPr lang="en-US" sz="1500">
                        <a:latin typeface="LG Smart UI Bold"/>
                        <a:ea typeface="LG Smart UI Bold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LG Smart UI Bold"/>
                          <a:ea typeface="LG Smart UI Bold"/>
                        </a:rPr>
                        <a:t>점포 수령 구조</a:t>
                      </a:r>
                      <a:endParaRPr lang="en-US" sz="1500">
                        <a:latin typeface="LG Smart UI Bold"/>
                        <a:ea typeface="LG Smart UI Bold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LG Smart UI Bold"/>
                          <a:ea typeface="LG Smart UI Bold"/>
                        </a:rPr>
                        <a:t>택배비</a:t>
                      </a:r>
                      <a:endParaRPr lang="en-US" sz="1500">
                        <a:latin typeface="LG Smart UI Bold"/>
                        <a:ea typeface="LG Smart UI Bold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LG Smart UI Bold"/>
                          <a:ea typeface="LG Smart UI Bold"/>
                        </a:rPr>
                        <a:t>개별 택배비 발생</a:t>
                      </a:r>
                      <a:endParaRPr lang="en-US" sz="1500">
                        <a:latin typeface="LG Smart UI Bold"/>
                        <a:ea typeface="LG Smart UI Bold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LG Smart UI Bold"/>
                          <a:ea typeface="LG Smart UI Bold"/>
                        </a:rPr>
                        <a:t>일괄 납품</a:t>
                      </a:r>
                      <a:endParaRPr lang="en-US" sz="1500">
                        <a:latin typeface="LG Smart UI Bold"/>
                        <a:ea typeface="LG Smart UI Bold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LG Smart UI Bold"/>
                          <a:ea typeface="LG Smart UI Bold"/>
                        </a:rPr>
                        <a:t>운영비</a:t>
                      </a:r>
                      <a:endParaRPr lang="en-US" sz="1500">
                        <a:latin typeface="LG Smart UI Bold"/>
                        <a:ea typeface="LG Smart UI Bold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LG Smart UI Bold"/>
                          <a:ea typeface="LG Smart UI Bold"/>
                        </a:rPr>
                        <a:t>부담 큼</a:t>
                      </a:r>
                      <a:endParaRPr lang="en-US" sz="1500">
                        <a:latin typeface="LG Smart UI Bold"/>
                        <a:ea typeface="LG Smart UI Bold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LG Smart UI Bold"/>
                          <a:ea typeface="LG Smart UI Bold"/>
                        </a:rPr>
                        <a:t>수수료 기반 구조</a:t>
                      </a:r>
                      <a:endParaRPr lang="en-US" sz="1500">
                        <a:latin typeface="LG Smart UI Bold"/>
                        <a:ea typeface="LG Smart UI Bold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914400" y="3931920"/>
            <a:ext cx="73152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 i="1">
                <a:solidFill>
                  <a:srgbClr val="666666"/>
                </a:solidFill>
                <a:latin typeface="LG Smart UI Bold"/>
                <a:ea typeface="LG Smart UI Bold"/>
              </a:rPr>
              <a:t>점포 유휴 공간을 활용한 비용 최소화 모델</a:t>
            </a:r>
            <a:endParaRPr lang="en-US" sz="1200">
              <a:latin typeface="LG Smart UI Bold"/>
              <a:ea typeface="LG Smart UI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7">
    <p:bg>
      <p:bgPr shadeToTitle="0"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002b5b"/>
                </a:solidFill>
                <a:latin typeface="LG Smart UI Bold"/>
                <a:ea typeface="LG Smart UI Bold"/>
              </a:rPr>
              <a:t>소비자 참여 프로세스</a:t>
            </a:r>
            <a:endParaRPr lang="en-US" sz="2000">
              <a:latin typeface="LG Smart UI Bold"/>
              <a:ea typeface="LG Smart UI Bold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65760" y="1828800"/>
            <a:ext cx="1280160" cy="1280160"/>
          </a:xfrm>
          <a:prstGeom prst="ellipse">
            <a:avLst/>
          </a:prstGeom>
          <a:solidFill>
            <a:srgbClr val="74a9d8"/>
          </a:solidFill>
          <a:ln w="12700">
            <a:solidFill>
              <a:srgbClr val="74a9d8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31520" y="214884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3154680"/>
            <a:ext cx="1463040" cy="41148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002b5b"/>
                </a:solidFill>
                <a:latin typeface="LG Smart UI Bold"/>
                <a:ea typeface="LG Smart UI Bold"/>
              </a:rPr>
              <a:t>점포 방문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6" name="Shape 3"/>
          <p:cNvSpPr/>
          <p:nvPr/>
        </p:nvSpPr>
        <p:spPr>
          <a:xfrm>
            <a:off x="1645920" y="2331720"/>
            <a:ext cx="54864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f6bba"/>
          </a:solidFill>
          <a:ln w="12700">
            <a:solidFill>
              <a:srgbClr val="1f6bba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7" name="Shape 4"/>
          <p:cNvSpPr/>
          <p:nvPr/>
        </p:nvSpPr>
        <p:spPr>
          <a:xfrm>
            <a:off x="2011680" y="1828800"/>
            <a:ext cx="1280160" cy="1280160"/>
          </a:xfrm>
          <a:prstGeom prst="ellipse">
            <a:avLst/>
          </a:prstGeom>
          <a:solidFill>
            <a:srgbClr val="74a9d8"/>
          </a:solidFill>
          <a:ln w="12700">
            <a:solidFill>
              <a:srgbClr val="74a9d8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377440" y="2148840"/>
            <a:ext cx="548640" cy="548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20240" y="3154680"/>
            <a:ext cx="1463040" cy="41148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002b5b"/>
                </a:solidFill>
                <a:latin typeface="LG Smart UI Bold"/>
                <a:ea typeface="LG Smart UI Bold"/>
              </a:rPr>
              <a:t>QR 스캔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3291840" y="2331720"/>
            <a:ext cx="54864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f6bba"/>
          </a:solidFill>
          <a:ln w="12700">
            <a:solidFill>
              <a:srgbClr val="1f6bba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3657600" y="1828800"/>
            <a:ext cx="1280160" cy="1280160"/>
          </a:xfrm>
          <a:prstGeom prst="ellipse">
            <a:avLst/>
          </a:prstGeom>
          <a:solidFill>
            <a:srgbClr val="74a9d8"/>
          </a:solidFill>
          <a:ln w="12700">
            <a:solidFill>
              <a:srgbClr val="74a9d8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4023360" y="2148840"/>
            <a:ext cx="548640" cy="5486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566160" y="3154680"/>
            <a:ext cx="1463040" cy="41148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002b5b"/>
                </a:solidFill>
                <a:latin typeface="LG Smart UI Bold"/>
                <a:ea typeface="LG Smart UI Bold"/>
              </a:rPr>
              <a:t>채널 구독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4937760" y="2331720"/>
            <a:ext cx="54864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f6bba"/>
          </a:solidFill>
          <a:ln w="12700">
            <a:solidFill>
              <a:srgbClr val="1f6bba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5303520" y="1828800"/>
            <a:ext cx="1280160" cy="1280160"/>
          </a:xfrm>
          <a:prstGeom prst="ellipse">
            <a:avLst/>
          </a:prstGeom>
          <a:solidFill>
            <a:srgbClr val="74a9d8"/>
          </a:solidFill>
          <a:ln w="12700">
            <a:solidFill>
              <a:srgbClr val="74a9d8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5669280" y="2148840"/>
            <a:ext cx="548640" cy="5486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212080" y="3154680"/>
            <a:ext cx="1463040" cy="41148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002b5b"/>
                </a:solidFill>
                <a:latin typeface="LG Smart UI Bold"/>
                <a:ea typeface="LG Smart UI Bold"/>
              </a:rPr>
              <a:t>공동구매 신청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8" name="Shape 12"/>
          <p:cNvSpPr/>
          <p:nvPr/>
        </p:nvSpPr>
        <p:spPr>
          <a:xfrm>
            <a:off x="6583680" y="2331720"/>
            <a:ext cx="54864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f6bba"/>
          </a:solidFill>
          <a:ln w="12700">
            <a:solidFill>
              <a:srgbClr val="1f6bba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9" name="Shape 13"/>
          <p:cNvSpPr/>
          <p:nvPr/>
        </p:nvSpPr>
        <p:spPr>
          <a:xfrm>
            <a:off x="6949440" y="1828800"/>
            <a:ext cx="1280160" cy="1280160"/>
          </a:xfrm>
          <a:prstGeom prst="ellipse">
            <a:avLst/>
          </a:prstGeom>
          <a:solidFill>
            <a:srgbClr val="74a9d8"/>
          </a:solidFill>
          <a:ln w="12700">
            <a:solidFill>
              <a:srgbClr val="74a9d8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7315200" y="2148840"/>
            <a:ext cx="548640" cy="5486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858000" y="3154680"/>
            <a:ext cx="1463040" cy="41148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002b5b"/>
                </a:solidFill>
                <a:latin typeface="LG Smart UI Bold"/>
                <a:ea typeface="LG Smart UI Bold"/>
              </a:rPr>
              <a:t>점포 수령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22" name="Shape 15"/>
          <p:cNvSpPr/>
          <p:nvPr/>
        </p:nvSpPr>
        <p:spPr>
          <a:xfrm>
            <a:off x="914400" y="4389120"/>
            <a:ext cx="7315200" cy="548640"/>
          </a:xfrm>
          <a:prstGeom prst="roundRect">
            <a:avLst>
              <a:gd name="adj" fmla="val 16667"/>
            </a:avLst>
          </a:prstGeom>
          <a:solidFill>
            <a:srgbClr val="002b5b"/>
          </a:solidFill>
          <a:ln w="12700">
            <a:solidFill>
              <a:srgbClr val="002b5b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23" name="Text 16"/>
          <p:cNvSpPr/>
          <p:nvPr/>
        </p:nvSpPr>
        <p:spPr>
          <a:xfrm>
            <a:off x="1005840" y="4407408"/>
            <a:ext cx="7132320" cy="512064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l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LG Smart UI Bold"/>
                <a:ea typeface="LG Smart UI Bold"/>
              </a:rPr>
              <a:t>온라인 유입 → 오프라인 방문 연결 구조</a:t>
            </a:r>
            <a:endParaRPr lang="en-US" sz="1400">
              <a:latin typeface="LG Smart UI Bold"/>
              <a:ea typeface="LG Smart UI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8">
    <p:bg>
      <p:bgPr shadeToTitle="0"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002b5b"/>
                </a:solidFill>
                <a:latin typeface="LG Smart UI Bold"/>
                <a:ea typeface="LG Smart UI Bold"/>
              </a:rPr>
              <a:t>공동구매 상품 전략</a:t>
            </a:r>
            <a:endParaRPr lang="en-US" sz="2000">
              <a:latin typeface="LG Smart UI Bold"/>
              <a:ea typeface="LG Smart UI Bold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3474720" cy="1188720"/>
          </a:xfrm>
          <a:prstGeom prst="roundRect">
            <a:avLst>
              <a:gd name="adj" fmla="val 7692"/>
            </a:avLst>
          </a:prstGeom>
          <a:solidFill>
            <a:srgbClr val="f0f4f8"/>
          </a:solidFill>
          <a:ln w="12700">
            <a:solidFill>
              <a:srgbClr val="e5e5e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74a9d8"/>
          </a:solidFill>
          <a:ln w="12700">
            <a:solidFill>
              <a:srgbClr val="74a9d8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94360" y="17373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600200"/>
            <a:ext cx="274320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002b5b"/>
                </a:solidFill>
                <a:latin typeface="LG Smart UI Bold"/>
                <a:ea typeface="LG Smart UI Bold"/>
              </a:rPr>
              <a:t>30~40% 할인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97280" y="1965960"/>
            <a:ext cx="27432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66666"/>
                </a:solidFill>
                <a:latin typeface="LG Smart UI Bold"/>
                <a:ea typeface="LG Smart UI Bold"/>
              </a:rPr>
              <a:t>시중가 대비 30~40% 할인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572000" y="1463040"/>
            <a:ext cx="3474720" cy="1188720"/>
          </a:xfrm>
          <a:prstGeom prst="roundRect">
            <a:avLst>
              <a:gd name="adj" fmla="val 7692"/>
            </a:avLst>
          </a:prstGeom>
          <a:solidFill>
            <a:srgbClr val="f0f4f8"/>
          </a:solidFill>
          <a:ln w="12700">
            <a:solidFill>
              <a:srgbClr val="e5e5e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663440" y="1691640"/>
            <a:ext cx="457200" cy="457200"/>
          </a:xfrm>
          <a:prstGeom prst="ellipse">
            <a:avLst/>
          </a:prstGeom>
          <a:solidFill>
            <a:srgbClr val="74a9d8"/>
          </a:solidFill>
          <a:ln w="12700">
            <a:solidFill>
              <a:srgbClr val="74a9d8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709160" y="173736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12080" y="1600200"/>
            <a:ext cx="274320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002b5b"/>
                </a:solidFill>
                <a:latin typeface="LG Smart UI Bold"/>
                <a:ea typeface="LG Smart UI Bold"/>
              </a:rPr>
              <a:t>차별화 상품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12" name="Text 8"/>
          <p:cNvSpPr/>
          <p:nvPr/>
        </p:nvSpPr>
        <p:spPr>
          <a:xfrm>
            <a:off x="5212080" y="1965960"/>
            <a:ext cx="27432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66666"/>
                </a:solidFill>
                <a:latin typeface="LG Smart UI Bold"/>
                <a:ea typeface="LG Smart UI Bold"/>
              </a:rPr>
              <a:t>대기업 브랜드 중심이 아닌 차별화 상품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457200" y="3017520"/>
            <a:ext cx="3474720" cy="1188720"/>
          </a:xfrm>
          <a:prstGeom prst="roundRect">
            <a:avLst>
              <a:gd name="adj" fmla="val 7692"/>
            </a:avLst>
          </a:prstGeom>
          <a:solidFill>
            <a:srgbClr val="f0f4f8"/>
          </a:solidFill>
          <a:ln w="12700">
            <a:solidFill>
              <a:srgbClr val="e5e5e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548640" y="3246120"/>
            <a:ext cx="457200" cy="457200"/>
          </a:xfrm>
          <a:prstGeom prst="ellipse">
            <a:avLst/>
          </a:prstGeom>
          <a:solidFill>
            <a:srgbClr val="74a9d8"/>
          </a:solidFill>
          <a:ln w="12700">
            <a:solidFill>
              <a:srgbClr val="74a9d8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594360" y="329184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97280" y="3154680"/>
            <a:ext cx="274320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002b5b"/>
                </a:solidFill>
                <a:latin typeface="LG Smart UI Bold"/>
                <a:ea typeface="LG Smart UI Bold"/>
              </a:rPr>
              <a:t>선공개·지역 한정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1097280" y="3520440"/>
            <a:ext cx="27432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66666"/>
                </a:solidFill>
                <a:latin typeface="LG Smart UI Bold"/>
                <a:ea typeface="LG Smart UI Bold"/>
              </a:rPr>
              <a:t>선공개 / 지역 한정 상품 가능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4572000" y="3017520"/>
            <a:ext cx="3474720" cy="1188720"/>
          </a:xfrm>
          <a:prstGeom prst="roundRect">
            <a:avLst>
              <a:gd name="adj" fmla="val 7692"/>
            </a:avLst>
          </a:prstGeom>
          <a:solidFill>
            <a:srgbClr val="f0f4f8"/>
          </a:solidFill>
          <a:ln w="12700">
            <a:solidFill>
              <a:srgbClr val="e5e5e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4663440" y="3246120"/>
            <a:ext cx="457200" cy="457200"/>
          </a:xfrm>
          <a:prstGeom prst="ellipse">
            <a:avLst/>
          </a:prstGeom>
          <a:solidFill>
            <a:srgbClr val="74a9d8"/>
          </a:solidFill>
          <a:ln w="12700">
            <a:solidFill>
              <a:srgbClr val="74a9d8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4709160" y="329184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212080" y="3154680"/>
            <a:ext cx="274320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002b5b"/>
                </a:solidFill>
                <a:latin typeface="LG Smart UI Bold"/>
                <a:ea typeface="LG Smart UI Bold"/>
              </a:rPr>
              <a:t>자체 기획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5212080" y="3520440"/>
            <a:ext cx="27432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66666"/>
                </a:solidFill>
                <a:latin typeface="LG Smart UI Bold"/>
                <a:ea typeface="LG Smart UI Bold"/>
              </a:rPr>
              <a:t>자체 기획 상품 중심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23" name="Shape 17"/>
          <p:cNvSpPr/>
          <p:nvPr/>
        </p:nvSpPr>
        <p:spPr>
          <a:xfrm>
            <a:off x="914400" y="4389120"/>
            <a:ext cx="7315200" cy="548640"/>
          </a:xfrm>
          <a:prstGeom prst="roundRect">
            <a:avLst>
              <a:gd name="adj" fmla="val 16667"/>
            </a:avLst>
          </a:prstGeom>
          <a:solidFill>
            <a:srgbClr val="002b5b"/>
          </a:solidFill>
          <a:ln w="12700">
            <a:solidFill>
              <a:srgbClr val="002b5b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960120" y="4407408"/>
            <a:ext cx="7223760" cy="512064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l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LG Smart UI Bold"/>
                <a:ea typeface="LG Smart UI Bold"/>
              </a:rPr>
              <a:t>가격 경쟁이 아닌 차별화 상품 중심 전략</a:t>
            </a:r>
            <a:endParaRPr lang="en-US" sz="1400">
              <a:latin typeface="LG Smart UI Bold"/>
              <a:ea typeface="LG Smart UI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9">
    <p:bg>
      <p:bgPr shadeToTitle="0"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002b5b"/>
                </a:solidFill>
                <a:latin typeface="LG Smart UI Bold"/>
                <a:ea typeface="LG Smart UI Bold"/>
              </a:rPr>
              <a:t>운영 프로세스</a:t>
            </a:r>
            <a:endParaRPr lang="en-US" sz="2000">
              <a:latin typeface="LG Smart UI Bold"/>
              <a:ea typeface="LG Smart UI Bold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1463040" cy="1280160"/>
          </a:xfrm>
          <a:prstGeom prst="roundRect">
            <a:avLst>
              <a:gd name="adj" fmla="val 7143"/>
            </a:avLst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097280" y="1920240"/>
            <a:ext cx="548640" cy="548640"/>
          </a:xfrm>
          <a:prstGeom prst="ellipse">
            <a:avLst/>
          </a:prstGeom>
          <a:solidFill>
            <a:srgbClr val="74a9d8"/>
          </a:solidFill>
          <a:ln w="12700">
            <a:solidFill>
              <a:srgbClr val="74a9d8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143000" y="19659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468880"/>
            <a:ext cx="128016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002b5b"/>
                </a:solidFill>
                <a:latin typeface="LG Smart UI Bold"/>
                <a:ea typeface="LG Smart UI Bold"/>
              </a:rPr>
              <a:t>수량 확정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7" name="Shape 4"/>
          <p:cNvSpPr/>
          <p:nvPr/>
        </p:nvSpPr>
        <p:spPr>
          <a:xfrm>
            <a:off x="2103120" y="2331720"/>
            <a:ext cx="54864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f6bba"/>
          </a:solidFill>
          <a:ln w="12700">
            <a:solidFill>
              <a:srgbClr val="1f6bba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8" name="Shape 5"/>
          <p:cNvSpPr/>
          <p:nvPr/>
        </p:nvSpPr>
        <p:spPr>
          <a:xfrm>
            <a:off x="2926080" y="1828800"/>
            <a:ext cx="1463040" cy="1280160"/>
          </a:xfrm>
          <a:prstGeom prst="roundRect">
            <a:avLst>
              <a:gd name="adj" fmla="val 7143"/>
            </a:avLst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383280" y="1920240"/>
            <a:ext cx="548640" cy="548640"/>
          </a:xfrm>
          <a:prstGeom prst="ellipse">
            <a:avLst/>
          </a:prstGeom>
          <a:solidFill>
            <a:srgbClr val="74a9d8"/>
          </a:solidFill>
          <a:ln w="12700">
            <a:solidFill>
              <a:srgbClr val="74a9d8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3429000" y="196596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017520" y="2468880"/>
            <a:ext cx="128016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002b5b"/>
                </a:solidFill>
                <a:latin typeface="LG Smart UI Bold"/>
                <a:ea typeface="LG Smart UI Bold"/>
              </a:rPr>
              <a:t>점포 납품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4389120" y="2331720"/>
            <a:ext cx="54864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f6bba"/>
          </a:solidFill>
          <a:ln w="12700">
            <a:solidFill>
              <a:srgbClr val="1f6bba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5212080" y="1828800"/>
            <a:ext cx="1463040" cy="1280160"/>
          </a:xfrm>
          <a:prstGeom prst="roundRect">
            <a:avLst>
              <a:gd name="adj" fmla="val 7143"/>
            </a:avLst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5669280" y="1920240"/>
            <a:ext cx="548640" cy="548640"/>
          </a:xfrm>
          <a:prstGeom prst="ellipse">
            <a:avLst/>
          </a:prstGeom>
          <a:solidFill>
            <a:srgbClr val="74a9d8"/>
          </a:solidFill>
          <a:ln w="12700">
            <a:solidFill>
              <a:srgbClr val="74a9d8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5715000" y="196596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303520" y="2468880"/>
            <a:ext cx="128016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002b5b"/>
                </a:solidFill>
                <a:latin typeface="LG Smart UI Bold"/>
                <a:ea typeface="LG Smart UI Bold"/>
              </a:rPr>
              <a:t>소비자 수령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7" name="Shape 12"/>
          <p:cNvSpPr/>
          <p:nvPr/>
        </p:nvSpPr>
        <p:spPr>
          <a:xfrm>
            <a:off x="6675120" y="2331720"/>
            <a:ext cx="54864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f6bba"/>
          </a:solidFill>
          <a:ln w="12700">
            <a:solidFill>
              <a:srgbClr val="1f6bba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7498080" y="1828800"/>
            <a:ext cx="1463040" cy="1280160"/>
          </a:xfrm>
          <a:prstGeom prst="roundRect">
            <a:avLst>
              <a:gd name="adj" fmla="val 7143"/>
            </a:avLst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7955280" y="1920240"/>
            <a:ext cx="548640" cy="548640"/>
          </a:xfrm>
          <a:prstGeom prst="ellipse">
            <a:avLst/>
          </a:prstGeom>
          <a:solidFill>
            <a:srgbClr val="74a9d8"/>
          </a:solidFill>
          <a:ln w="12700">
            <a:solidFill>
              <a:srgbClr val="74a9d8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8001000" y="196596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589520" y="2468880"/>
            <a:ext cx="128016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002b5b"/>
                </a:solidFill>
                <a:latin typeface="LG Smart UI Bold"/>
                <a:ea typeface="LG Smart UI Bold"/>
              </a:rPr>
              <a:t>5% 정산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22" name="Shape 16"/>
          <p:cNvSpPr/>
          <p:nvPr/>
        </p:nvSpPr>
        <p:spPr>
          <a:xfrm>
            <a:off x="914400" y="4389120"/>
            <a:ext cx="7315200" cy="548640"/>
          </a:xfrm>
          <a:prstGeom prst="roundRect">
            <a:avLst>
              <a:gd name="adj" fmla="val 16667"/>
            </a:avLst>
          </a:prstGeom>
          <a:solidFill>
            <a:srgbClr val="002b5b"/>
          </a:solidFill>
          <a:ln w="12700">
            <a:solidFill>
              <a:srgbClr val="002b5b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960120" y="4407408"/>
            <a:ext cx="7223760" cy="512064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l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LG Smart UI Bold"/>
                <a:ea typeface="LG Smart UI Bold"/>
              </a:rPr>
              <a:t>점포 운영 부담 최소화 설계</a:t>
            </a:r>
            <a:endParaRPr lang="en-US" sz="1400">
              <a:latin typeface="LG Smart UI Bold"/>
              <a:ea typeface="LG Smart UI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0">
    <p:bg>
      <p:bgPr shadeToTitle="0"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002b5b"/>
                </a:solidFill>
                <a:latin typeface="LG Smart UI Bold"/>
                <a:ea typeface="LG Smart UI Bold"/>
              </a:rPr>
              <a:t>점포 부담 최소화 설계</a:t>
            </a:r>
            <a:endParaRPr lang="en-US" sz="2000">
              <a:latin typeface="LG Smart UI Bold"/>
              <a:ea typeface="LG Smart UI Bold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3474720" cy="1097280"/>
          </a:xfrm>
          <a:prstGeom prst="roundRect">
            <a:avLst>
              <a:gd name="adj" fmla="val 8333"/>
            </a:avLst>
          </a:prstGeom>
          <a:solidFill>
            <a:srgbClr val="f0f4f8"/>
          </a:solidFill>
          <a:ln w="12700">
            <a:solidFill>
              <a:srgbClr val="e5e5e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74a9d8"/>
          </a:solidFill>
          <a:ln w="12700">
            <a:solidFill>
              <a:srgbClr val="74a9d8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94360" y="17373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572768"/>
            <a:ext cx="283464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002b5b"/>
                </a:solidFill>
                <a:latin typeface="LG Smart UI Bold"/>
                <a:ea typeface="LG Smart UI Bold"/>
              </a:rPr>
              <a:t>설명 인력 불필요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97280" y="1901952"/>
            <a:ext cx="2834640" cy="45720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66666"/>
                </a:solidFill>
                <a:latin typeface="LG Smart UI Bold"/>
                <a:ea typeface="LG Smart UI Bold"/>
              </a:rPr>
              <a:t>QR 코드 안내 중심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572000" y="1463040"/>
            <a:ext cx="3474720" cy="1097280"/>
          </a:xfrm>
          <a:prstGeom prst="roundRect">
            <a:avLst>
              <a:gd name="adj" fmla="val 8333"/>
            </a:avLst>
          </a:prstGeom>
          <a:solidFill>
            <a:srgbClr val="f0f4f8"/>
          </a:solidFill>
          <a:ln w="12700">
            <a:solidFill>
              <a:srgbClr val="e5e5e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663440" y="1691640"/>
            <a:ext cx="457200" cy="457200"/>
          </a:xfrm>
          <a:prstGeom prst="ellipse">
            <a:avLst/>
          </a:prstGeom>
          <a:solidFill>
            <a:srgbClr val="74a9d8"/>
          </a:solidFill>
          <a:ln w="12700">
            <a:solidFill>
              <a:srgbClr val="74a9d8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709160" y="173736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12080" y="1572768"/>
            <a:ext cx="283464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002b5b"/>
                </a:solidFill>
                <a:latin typeface="LG Smart UI Bold"/>
                <a:ea typeface="LG Smart UI Bold"/>
              </a:rPr>
              <a:t>QR 안내 구조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12" name="Text 8"/>
          <p:cNvSpPr/>
          <p:nvPr/>
        </p:nvSpPr>
        <p:spPr>
          <a:xfrm>
            <a:off x="5212080" y="1901952"/>
            <a:ext cx="2834640" cy="45720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66666"/>
                </a:solidFill>
                <a:latin typeface="LG Smart UI Bold"/>
                <a:ea typeface="LG Smart UI Bold"/>
              </a:rPr>
              <a:t>간단한 QR 활용 절차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457200" y="3017520"/>
            <a:ext cx="3474720" cy="1097280"/>
          </a:xfrm>
          <a:prstGeom prst="roundRect">
            <a:avLst>
              <a:gd name="adj" fmla="val 8333"/>
            </a:avLst>
          </a:prstGeom>
          <a:solidFill>
            <a:srgbClr val="f0f4f8"/>
          </a:solidFill>
          <a:ln w="12700">
            <a:solidFill>
              <a:srgbClr val="e5e5e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548640" y="3246120"/>
            <a:ext cx="457200" cy="457200"/>
          </a:xfrm>
          <a:prstGeom prst="ellipse">
            <a:avLst/>
          </a:prstGeom>
          <a:solidFill>
            <a:srgbClr val="74a9d8"/>
          </a:solidFill>
          <a:ln w="12700">
            <a:solidFill>
              <a:srgbClr val="74a9d8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594360" y="329184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97280" y="3127248"/>
            <a:ext cx="283464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002b5b"/>
                </a:solidFill>
                <a:latin typeface="LG Smart UI Bold"/>
                <a:ea typeface="LG Smart UI Bold"/>
              </a:rPr>
              <a:t>단순 수령 확인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1097280" y="3456432"/>
            <a:ext cx="2834640" cy="45720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66666"/>
                </a:solidFill>
                <a:latin typeface="LG Smart UI Bold"/>
                <a:ea typeface="LG Smart UI Bold"/>
              </a:rPr>
              <a:t>간단한 수령 확인 방식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4572000" y="3017520"/>
            <a:ext cx="3474720" cy="1097280"/>
          </a:xfrm>
          <a:prstGeom prst="roundRect">
            <a:avLst>
              <a:gd name="adj" fmla="val 8333"/>
            </a:avLst>
          </a:prstGeom>
          <a:solidFill>
            <a:srgbClr val="f0f4f8"/>
          </a:solidFill>
          <a:ln w="12700">
            <a:solidFill>
              <a:srgbClr val="e5e5e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4663440" y="3246120"/>
            <a:ext cx="457200" cy="457200"/>
          </a:xfrm>
          <a:prstGeom prst="ellipse">
            <a:avLst/>
          </a:prstGeom>
          <a:solidFill>
            <a:srgbClr val="74a9d8"/>
          </a:solidFill>
          <a:ln w="12700">
            <a:solidFill>
              <a:srgbClr val="74a9d8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4709160" y="329184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212080" y="3127248"/>
            <a:ext cx="283464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002b5b"/>
                </a:solidFill>
                <a:latin typeface="LG Smart UI Bold"/>
                <a:ea typeface="LG Smart UI Bold"/>
              </a:rPr>
              <a:t>단기 테스트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5212080" y="3456432"/>
            <a:ext cx="2834640" cy="45720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66666"/>
                </a:solidFill>
                <a:latin typeface="LG Smart UI Bold"/>
                <a:ea typeface="LG Smart UI Bold"/>
              </a:rPr>
              <a:t>단기 테스트 운영 가능</a:t>
            </a:r>
            <a:endParaRPr lang="en-US" sz="1200">
              <a:latin typeface="LG Smart UI Bold"/>
              <a:ea typeface="LG Smart UI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1">
    <p:bg>
      <p:bgPr shadeToTitle="0"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002b5b"/>
                </a:solidFill>
                <a:latin typeface="LG Smart UI Bold"/>
                <a:ea typeface="LG Smart UI Bold"/>
              </a:rPr>
              <a:t>파일럿 운영 제안</a:t>
            </a:r>
            <a:endParaRPr lang="en-US" sz="2000">
              <a:latin typeface="LG Smart UI Bold"/>
              <a:ea typeface="LG Smart UI Bold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051560" y="1920240"/>
            <a:ext cx="548640" cy="548640"/>
          </a:xfrm>
          <a:prstGeom prst="ellipse">
            <a:avLst/>
          </a:prstGeom>
          <a:solidFill>
            <a:srgbClr val="74a9d8"/>
          </a:solidFill>
          <a:ln w="12700">
            <a:solidFill>
              <a:srgbClr val="74a9d8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78992" y="19659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2514600"/>
            <a:ext cx="1554480" cy="45720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002b5b"/>
                </a:solidFill>
                <a:latin typeface="LG Smart UI Bold"/>
                <a:ea typeface="LG Smart UI Bold"/>
              </a:rPr>
              <a:t>3~5개 점포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7" name="Shape 4"/>
          <p:cNvSpPr/>
          <p:nvPr/>
        </p:nvSpPr>
        <p:spPr>
          <a:xfrm>
            <a:off x="2286000" y="2331720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f6bba"/>
          </a:solidFill>
          <a:ln w="12700">
            <a:solidFill>
              <a:srgbClr val="1f6bba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8" name="Shape 5"/>
          <p:cNvSpPr/>
          <p:nvPr/>
        </p:nvSpPr>
        <p:spPr>
          <a:xfrm>
            <a:off x="2743200" y="182880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337560" y="1920240"/>
            <a:ext cx="548640" cy="548640"/>
          </a:xfrm>
          <a:prstGeom prst="ellipse">
            <a:avLst/>
          </a:prstGeom>
          <a:solidFill>
            <a:srgbClr val="74a9d8"/>
          </a:solidFill>
          <a:ln w="12700">
            <a:solidFill>
              <a:srgbClr val="74a9d8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3364992" y="196596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880360" y="2514600"/>
            <a:ext cx="1554480" cy="45720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002b5b"/>
                </a:solidFill>
                <a:latin typeface="LG Smart UI Bold"/>
                <a:ea typeface="LG Smart UI Bold"/>
              </a:rPr>
              <a:t>1~2개 상품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4572000" y="2331720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f6bba"/>
          </a:solidFill>
          <a:ln w="12700">
            <a:solidFill>
              <a:srgbClr val="1f6bba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5029200" y="182880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5623560" y="1920240"/>
            <a:ext cx="548640" cy="548640"/>
          </a:xfrm>
          <a:prstGeom prst="ellipse">
            <a:avLst/>
          </a:prstGeom>
          <a:solidFill>
            <a:srgbClr val="74a9d8"/>
          </a:solidFill>
          <a:ln w="12700">
            <a:solidFill>
              <a:srgbClr val="74a9d8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5650992" y="196596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166360" y="2514600"/>
            <a:ext cx="1554480" cy="45720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002b5b"/>
                </a:solidFill>
                <a:latin typeface="LG Smart UI Bold"/>
                <a:ea typeface="LG Smart UI Bold"/>
              </a:rPr>
              <a:t>3개월 운영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7" name="Shape 12"/>
          <p:cNvSpPr/>
          <p:nvPr/>
        </p:nvSpPr>
        <p:spPr>
          <a:xfrm>
            <a:off x="6858000" y="2331720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f6bba"/>
          </a:solidFill>
          <a:ln w="12700">
            <a:solidFill>
              <a:srgbClr val="1f6bba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7315200" y="182880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7909560" y="1920240"/>
            <a:ext cx="548640" cy="548640"/>
          </a:xfrm>
          <a:prstGeom prst="ellipse">
            <a:avLst/>
          </a:prstGeom>
          <a:solidFill>
            <a:srgbClr val="74a9d8"/>
          </a:solidFill>
          <a:ln w="12700">
            <a:solidFill>
              <a:srgbClr val="74a9d8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7936992" y="196596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52360" y="2514600"/>
            <a:ext cx="1554480" cy="45720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002b5b"/>
                </a:solidFill>
                <a:latin typeface="LG Smart UI Bold"/>
                <a:ea typeface="LG Smart UI Bold"/>
              </a:rPr>
              <a:t>데이터 검증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22" name="Shape 16"/>
          <p:cNvSpPr/>
          <p:nvPr/>
        </p:nvSpPr>
        <p:spPr>
          <a:xfrm>
            <a:off x="914400" y="4389120"/>
            <a:ext cx="7315200" cy="548640"/>
          </a:xfrm>
          <a:prstGeom prst="roundRect">
            <a:avLst>
              <a:gd name="adj" fmla="val 16667"/>
            </a:avLst>
          </a:prstGeom>
          <a:solidFill>
            <a:srgbClr val="002b5b"/>
          </a:solidFill>
          <a:ln w="12700">
            <a:solidFill>
              <a:srgbClr val="002b5b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960120" y="4407408"/>
            <a:ext cx="7223760" cy="512064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l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LG Smart UI Bold"/>
                <a:ea typeface="LG Smart UI Bold"/>
              </a:rPr>
              <a:t>리스크 없는 실험 구조</a:t>
            </a:r>
            <a:endParaRPr lang="en-US" sz="1400">
              <a:latin typeface="LG Smart UI Bold"/>
              <a:ea typeface="LG Smart UI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2">
    <p:bg>
      <p:bgPr shadeToTitle="0"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002b5b"/>
                </a:solidFill>
                <a:latin typeface="LG Smart UI Bold"/>
                <a:ea typeface="LG Smart UI Bold"/>
              </a:rPr>
              <a:t>기대 효과</a:t>
            </a:r>
            <a:endParaRPr lang="en-US" sz="2000">
              <a:latin typeface="LG Smart UI Bold"/>
              <a:ea typeface="LG Smart UI Bold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f0f4f8"/>
          </a:solidFill>
          <a:ln w="12700">
            <a:solidFill>
              <a:srgbClr val="e5e5e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457200" cy="457200"/>
          </a:xfrm>
          <a:prstGeom prst="ellipse">
            <a:avLst/>
          </a:prstGeom>
          <a:solidFill>
            <a:srgbClr val="74a9d8"/>
          </a:solidFill>
          <a:ln w="12700">
            <a:solidFill>
              <a:srgbClr val="74a9d8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94360" y="19202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737360"/>
            <a:ext cx="1920240" cy="3200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002b5b"/>
                </a:solidFill>
                <a:latin typeface="LG Smart UI Bold"/>
                <a:ea typeface="LG Smart UI Bold"/>
              </a:rPr>
              <a:t>방문 증가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97280" y="2057400"/>
            <a:ext cx="192024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66666"/>
                </a:solidFill>
                <a:latin typeface="LG Smart UI Bold"/>
                <a:ea typeface="LG Smart UI Bold"/>
              </a:rPr>
              <a:t>점포 방문 증가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200400" y="164592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f0f4f8"/>
          </a:solidFill>
          <a:ln w="12700">
            <a:solidFill>
              <a:srgbClr val="e5e5e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291840" y="1874520"/>
            <a:ext cx="457200" cy="457200"/>
          </a:xfrm>
          <a:prstGeom prst="ellipse">
            <a:avLst/>
          </a:prstGeom>
          <a:solidFill>
            <a:srgbClr val="74a9d8"/>
          </a:solidFill>
          <a:ln w="12700">
            <a:solidFill>
              <a:srgbClr val="74a9d8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3337560" y="192024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840480" y="1737360"/>
            <a:ext cx="1920240" cy="3200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002b5b"/>
                </a:solidFill>
                <a:latin typeface="LG Smart UI Bold"/>
                <a:ea typeface="LG Smart UI Bold"/>
              </a:rPr>
              <a:t>수익 확대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12" name="Text 8"/>
          <p:cNvSpPr/>
          <p:nvPr/>
        </p:nvSpPr>
        <p:spPr>
          <a:xfrm>
            <a:off x="3840480" y="2057400"/>
            <a:ext cx="192024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66666"/>
                </a:solidFill>
                <a:latin typeface="LG Smart UI Bold"/>
                <a:ea typeface="LG Smart UI Bold"/>
              </a:rPr>
              <a:t>점주 수익 확대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5943600" y="164592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f0f4f8"/>
          </a:solidFill>
          <a:ln w="12700">
            <a:solidFill>
              <a:srgbClr val="e5e5e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6035040" y="1874520"/>
            <a:ext cx="457200" cy="457200"/>
          </a:xfrm>
          <a:prstGeom prst="ellipse">
            <a:avLst/>
          </a:prstGeom>
          <a:solidFill>
            <a:srgbClr val="74a9d8"/>
          </a:solidFill>
          <a:ln w="12700">
            <a:solidFill>
              <a:srgbClr val="74a9d8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6080760" y="192024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583680" y="1737360"/>
            <a:ext cx="1920240" cy="3200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002b5b"/>
                </a:solidFill>
                <a:latin typeface="LG Smart UI Bold"/>
                <a:ea typeface="LG Smart UI Bold"/>
              </a:rPr>
              <a:t>재활성화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6583680" y="2057400"/>
            <a:ext cx="192024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66666"/>
                </a:solidFill>
                <a:latin typeface="LG Smart UI Bold"/>
                <a:ea typeface="LG Smart UI Bold"/>
              </a:rPr>
              <a:t>지역 고객 재활성화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457200" y="310896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f0f4f8"/>
          </a:solidFill>
          <a:ln w="12700">
            <a:solidFill>
              <a:srgbClr val="e5e5e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548640" y="3337560"/>
            <a:ext cx="457200" cy="457200"/>
          </a:xfrm>
          <a:prstGeom prst="ellipse">
            <a:avLst/>
          </a:prstGeom>
          <a:solidFill>
            <a:srgbClr val="74a9d8"/>
          </a:solidFill>
          <a:ln w="12700">
            <a:solidFill>
              <a:srgbClr val="74a9d8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594360" y="338328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97280" y="3200400"/>
            <a:ext cx="1920240" cy="3200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002b5b"/>
                </a:solidFill>
                <a:latin typeface="LG Smart UI Bold"/>
                <a:ea typeface="LG Smart UI Bold"/>
              </a:rPr>
              <a:t>마케팅 절감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1097280" y="3520440"/>
            <a:ext cx="192024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66666"/>
                </a:solidFill>
                <a:latin typeface="LG Smart UI Bold"/>
                <a:ea typeface="LG Smart UI Bold"/>
              </a:rPr>
              <a:t>마케팅 비용 절감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23" name="Shape 17"/>
          <p:cNvSpPr/>
          <p:nvPr/>
        </p:nvSpPr>
        <p:spPr>
          <a:xfrm>
            <a:off x="3200400" y="310896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f0f4f8"/>
          </a:solidFill>
          <a:ln w="12700">
            <a:solidFill>
              <a:srgbClr val="e5e5e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24" name="Shape 18"/>
          <p:cNvSpPr/>
          <p:nvPr/>
        </p:nvSpPr>
        <p:spPr>
          <a:xfrm>
            <a:off x="3291840" y="3337560"/>
            <a:ext cx="457200" cy="457200"/>
          </a:xfrm>
          <a:prstGeom prst="ellipse">
            <a:avLst/>
          </a:prstGeom>
          <a:solidFill>
            <a:srgbClr val="74a9d8"/>
          </a:solidFill>
          <a:ln w="12700">
            <a:solidFill>
              <a:srgbClr val="74a9d8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3337560" y="3383280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840480" y="3200400"/>
            <a:ext cx="1920240" cy="3200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002b5b"/>
                </a:solidFill>
                <a:latin typeface="LG Smart UI Bold"/>
                <a:ea typeface="LG Smart UI Bold"/>
              </a:rPr>
              <a:t>경쟁력 강화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27" name="Text 20"/>
          <p:cNvSpPr/>
          <p:nvPr/>
        </p:nvSpPr>
        <p:spPr>
          <a:xfrm>
            <a:off x="3840480" y="3520440"/>
            <a:ext cx="192024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66666"/>
                </a:solidFill>
                <a:latin typeface="LG Smart UI Bold"/>
                <a:ea typeface="LG Smart UI Bold"/>
              </a:rPr>
              <a:t>점포 경쟁력 강화</a:t>
            </a:r>
            <a:endParaRPr lang="en-US" sz="1200">
              <a:latin typeface="LG Smart UI Bold"/>
              <a:ea typeface="LG Smart UI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3">
    <p:bg>
      <p:bgPr shadeToTitle="0"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002b5b"/>
                </a:solidFill>
                <a:latin typeface="LG Smart UI Bold"/>
                <a:ea typeface="LG Smart UI Bold"/>
              </a:rPr>
              <a:t>리스크 대응 방안</a:t>
            </a:r>
            <a:endParaRPr lang="en-US" sz="2000">
              <a:latin typeface="LG Smart UI Bold"/>
              <a:ea typeface="LG Smart UI Bold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1828800" cy="1463040"/>
          </a:xfrm>
          <a:prstGeom prst="roundRect">
            <a:avLst>
              <a:gd name="adj" fmla="val 6250"/>
            </a:avLst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051560" y="1920240"/>
            <a:ext cx="548640" cy="548640"/>
          </a:xfrm>
          <a:prstGeom prst="ellipse">
            <a:avLst/>
          </a:prstGeom>
          <a:solidFill>
            <a:srgbClr val="74a9d8"/>
          </a:solidFill>
          <a:ln w="12700">
            <a:solidFill>
              <a:srgbClr val="74a9d8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78992" y="19659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2514600"/>
            <a:ext cx="1554480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002b5b"/>
                </a:solidFill>
                <a:latin typeface="LG Smart UI Bold"/>
                <a:ea typeface="LG Smart UI Bold"/>
              </a:rPr>
              <a:t>초기 테스트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7" name="Text 4"/>
          <p:cNvSpPr/>
          <p:nvPr/>
        </p:nvSpPr>
        <p:spPr>
          <a:xfrm>
            <a:off x="594360" y="2788920"/>
            <a:ext cx="155448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666666"/>
                </a:solidFill>
                <a:latin typeface="LG Smart UI Bold"/>
                <a:ea typeface="LG Smart UI Bold"/>
              </a:rPr>
              <a:t>초기 테스트 운영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8" name="Shape 5"/>
          <p:cNvSpPr/>
          <p:nvPr/>
        </p:nvSpPr>
        <p:spPr>
          <a:xfrm>
            <a:off x="2667000" y="1828800"/>
            <a:ext cx="1828800" cy="1463040"/>
          </a:xfrm>
          <a:prstGeom prst="roundRect">
            <a:avLst>
              <a:gd name="adj" fmla="val 6250"/>
            </a:avLst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261360" y="1920240"/>
            <a:ext cx="548640" cy="548640"/>
          </a:xfrm>
          <a:prstGeom prst="ellipse">
            <a:avLst/>
          </a:prstGeom>
          <a:solidFill>
            <a:srgbClr val="74a9d8"/>
          </a:solidFill>
          <a:ln w="12700">
            <a:solidFill>
              <a:srgbClr val="74a9d8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3288792" y="196596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804160" y="2514600"/>
            <a:ext cx="1554480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002b5b"/>
                </a:solidFill>
                <a:latin typeface="LG Smart UI Bold"/>
                <a:ea typeface="LG Smart UI Bold"/>
              </a:rPr>
              <a:t>판매 부진시 종료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12" name="Text 8"/>
          <p:cNvSpPr/>
          <p:nvPr/>
        </p:nvSpPr>
        <p:spPr>
          <a:xfrm>
            <a:off x="2804160" y="2788920"/>
            <a:ext cx="155448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666666"/>
                </a:solidFill>
                <a:latin typeface="LG Smart UI Bold"/>
                <a:ea typeface="LG Smart UI Bold"/>
              </a:rPr>
              <a:t>판매 부진 시 종료 가능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4895850" y="1828800"/>
            <a:ext cx="1828800" cy="1463040"/>
          </a:xfrm>
          <a:prstGeom prst="roundRect">
            <a:avLst>
              <a:gd name="adj" fmla="val 6250"/>
            </a:avLst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5490210" y="1920240"/>
            <a:ext cx="548640" cy="548640"/>
          </a:xfrm>
          <a:prstGeom prst="ellipse">
            <a:avLst/>
          </a:prstGeom>
          <a:solidFill>
            <a:srgbClr val="74a9d8"/>
          </a:solidFill>
          <a:ln w="12700">
            <a:solidFill>
              <a:srgbClr val="74a9d8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5517642" y="196596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033010" y="2514600"/>
            <a:ext cx="1554480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002b5b"/>
                </a:solidFill>
                <a:latin typeface="LG Smart UI Bold"/>
                <a:ea typeface="LG Smart UI Bold"/>
              </a:rPr>
              <a:t>사은품 남용 방지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5033010" y="2788920"/>
            <a:ext cx="155448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666666"/>
                </a:solidFill>
                <a:latin typeface="LG Smart UI Bold"/>
                <a:ea typeface="LG Smart UI Bold"/>
              </a:rPr>
              <a:t>사은품 남용 방지 설계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7067550" y="1828800"/>
            <a:ext cx="1828800" cy="1463040"/>
          </a:xfrm>
          <a:prstGeom prst="roundRect">
            <a:avLst>
              <a:gd name="adj" fmla="val 6250"/>
            </a:avLst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7661910" y="1920240"/>
            <a:ext cx="548640" cy="548640"/>
          </a:xfrm>
          <a:prstGeom prst="ellipse">
            <a:avLst/>
          </a:prstGeom>
          <a:solidFill>
            <a:srgbClr val="74a9d8"/>
          </a:solidFill>
          <a:ln w="12700">
            <a:solidFill>
              <a:srgbClr val="74a9d8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7689342" y="196596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204710" y="2514600"/>
            <a:ext cx="1554480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002b5b"/>
                </a:solidFill>
                <a:latin typeface="LG Smart UI Bold"/>
                <a:ea typeface="LG Smart UI Bold"/>
              </a:rPr>
              <a:t>운영 간소화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7204710" y="2788920"/>
            <a:ext cx="155448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666666"/>
                </a:solidFill>
                <a:latin typeface="LG Smart UI Bold"/>
                <a:ea typeface="LG Smart UI Bold"/>
              </a:rPr>
              <a:t>점포 운영 간소화</a:t>
            </a:r>
            <a:endParaRPr lang="en-US" sz="1200">
              <a:latin typeface="LG Smart UI Bold"/>
              <a:ea typeface="LG Smart UI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4">
    <p:bg>
      <p:bgPr shadeToTitle="0"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002b5b"/>
                </a:solidFill>
                <a:latin typeface="LG Smart UI Bold"/>
                <a:ea typeface="LG Smart UI Bold"/>
              </a:rPr>
              <a:t>이마트 에브리데이와의 협력 제안</a:t>
            </a:r>
            <a:endParaRPr lang="en-US" sz="2000">
              <a:latin typeface="LG Smart UI Bold"/>
              <a:ea typeface="LG Smart UI Bold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54864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74a9d8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65760" cy="365760"/>
          </a:xfrm>
          <a:prstGeom prst="ellipse">
            <a:avLst/>
          </a:prstGeom>
          <a:solidFill>
            <a:srgbClr val="74a9d8"/>
          </a:solidFill>
          <a:ln w="12700">
            <a:solidFill>
              <a:srgbClr val="74a9d8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76072" y="139903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399032"/>
            <a:ext cx="4846320" cy="310896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002b5b"/>
                </a:solidFill>
                <a:latin typeface="LG Smart UI Bold"/>
                <a:ea typeface="LG Smart UI Bold"/>
              </a:rPr>
              <a:t>점포 유휴 역량을 활용한 추가 수익 모델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57200" y="1965960"/>
            <a:ext cx="54864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74a9d8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48640" y="2057400"/>
            <a:ext cx="365760" cy="365760"/>
          </a:xfrm>
          <a:prstGeom prst="ellipse">
            <a:avLst/>
          </a:prstGeom>
          <a:solidFill>
            <a:srgbClr val="74a9d8"/>
          </a:solidFill>
          <a:ln w="12700">
            <a:solidFill>
              <a:srgbClr val="74a9d8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76072" y="2084832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05840" y="2084832"/>
            <a:ext cx="4846320" cy="310896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002b5b"/>
                </a:solidFill>
                <a:latin typeface="LG Smart UI Bold"/>
                <a:ea typeface="LG Smart UI Bold"/>
              </a:rPr>
              <a:t>방문 유입 중심 구조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457200" y="2651760"/>
            <a:ext cx="54864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74a9d8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548640" y="2743200"/>
            <a:ext cx="365760" cy="365760"/>
          </a:xfrm>
          <a:prstGeom prst="ellipse">
            <a:avLst/>
          </a:prstGeom>
          <a:solidFill>
            <a:srgbClr val="74a9d8"/>
          </a:solidFill>
          <a:ln w="12700">
            <a:solidFill>
              <a:srgbClr val="74a9d8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576072" y="2770632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05840" y="2770632"/>
            <a:ext cx="4846320" cy="310896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002b5b"/>
                </a:solidFill>
                <a:latin typeface="LG Smart UI Bold"/>
                <a:ea typeface="LG Smart UI Bold"/>
              </a:rPr>
              <a:t>비용 부담 최소화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457200" y="3337560"/>
            <a:ext cx="54864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74a9d8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548640" y="3429000"/>
            <a:ext cx="365760" cy="365760"/>
          </a:xfrm>
          <a:prstGeom prst="ellipse">
            <a:avLst/>
          </a:prstGeom>
          <a:solidFill>
            <a:srgbClr val="74a9d8"/>
          </a:solidFill>
          <a:ln w="12700">
            <a:solidFill>
              <a:srgbClr val="74a9d8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576072" y="3456432"/>
            <a:ext cx="310896" cy="31089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05840" y="3456432"/>
            <a:ext cx="4846320" cy="310896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002b5b"/>
                </a:solidFill>
                <a:latin typeface="LG Smart UI Bold"/>
                <a:ea typeface="LG Smart UI Bold"/>
              </a:rPr>
              <a:t>파일럿을 통한 검증 가능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9" name="Shape 13"/>
          <p:cNvSpPr/>
          <p:nvPr/>
        </p:nvSpPr>
        <p:spPr>
          <a:xfrm>
            <a:off x="6400800" y="1371600"/>
            <a:ext cx="2286000" cy="2286000"/>
          </a:xfrm>
          <a:prstGeom prst="ellipse">
            <a:avLst/>
          </a:prstGeom>
          <a:solidFill>
            <a:srgbClr val="74a9d8"/>
          </a:solidFill>
          <a:ln w="12700">
            <a:solidFill>
              <a:srgbClr val="74a9d8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6766560" y="1737360"/>
            <a:ext cx="1554480" cy="1554480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457200" y="393192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002b5b"/>
          </a:solidFill>
          <a:ln w="12700">
            <a:solidFill>
              <a:srgbClr val="002b5b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22" name="Text 15"/>
          <p:cNvSpPr/>
          <p:nvPr/>
        </p:nvSpPr>
        <p:spPr>
          <a:xfrm>
            <a:off x="548640" y="3977640"/>
            <a:ext cx="8046720" cy="8229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l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LG Smart UI Bold"/>
                <a:ea typeface="LG Smart UI Bold"/>
              </a:rPr>
              <a:t>이마트 에브리데이 점포에 실질적 이익을 제공하는 구조를 제안드립니다.</a:t>
            </a:r>
            <a:endParaRPr lang="en-US" sz="1400">
              <a:latin typeface="LG Smart UI Bold"/>
              <a:ea typeface="LG Smart UI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>PptxGenJS</ep:Company>
  <ep:Words>382</ep:Words>
  <ep:PresentationFormat>On-screen Show (16:9)</ep:PresentationFormat>
  <ep:Paragraphs>97</ep:Paragraphs>
  <ep:Slides>14</ep:Slides>
  <ep:Notes>14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ep:HeadingPairs>
  <ep:TitlesOfParts>
    <vt:vector size="15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2026-03-01T12:12:56.000</dcterms:created>
  <dc:creator>PptxGenJS</dc:creator>
  <cp:lastModifiedBy>dhchd</cp:lastModifiedBy>
  <dcterms:modified xsi:type="dcterms:W3CDTF">2026-03-01T12:21:40.519</dcterms:modified>
  <cp:revision>3</cp:revision>
  <dc:subject>PptxGenJS Presentation</dc:subject>
  <dc:title>PptxGenJS Presentation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