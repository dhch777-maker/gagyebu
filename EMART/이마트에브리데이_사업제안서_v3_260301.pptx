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sheet2.xlsx"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 지수</c:v>
                </c:pt>
              </c:strCache>
            </c:strRef>
          </c:tx>
          <c:spPr>
            <a:solidFill>
              <a:srgbClr val="1f6bba"/>
            </a:solidFill>
            <a:ln w="25400" cap="flat" cmpd="sng">
              <a:solidFill>
                <a:srgbClr val="FFD200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FD200"/>
              </a:solidFill>
              <a:ln w="9525" cap="flat" cmpd="sng">
                <a:solidFill>
                  <a:srgbClr val="1f6bba"/>
                </a:solidFill>
                <a:prstDash val="solid"/>
                <a:round/>
              </a:ln>
              <a:effectLst/>
            </c:spPr>
          </c:marker>
          <c:dPt>
            <c:idx val="0"/>
            <c:spPr/>
          </c:dPt>
          <c:dPt>
            <c:idx val="1"/>
            <c:spPr/>
          </c:dPt>
          <c:dPt>
            <c:idx val="2"/>
            <c:spPr/>
          </c:dPt>
          <c:dPt>
            <c:idx val="3"/>
            <c:spPr/>
          </c:dPt>
          <c:dPt>
            <c:idx val="4"/>
            <c:spPr/>
          </c:dPt>
          <c:dLbls>
            <c:delete val="0"/>
            <c:numFmt formatCode="#,##0" sourceLinked="0"/>
            <c:txPr>
              <a:bodyPr rot="0" vert="horz" wrap="none" lIns="0" tIns="0" rIns="0" bIns="0" anchor="ctr" anchorCtr="1"/>
              <a:p>
                <a:pPr algn="l">
                  <a:defRPr sz="1200" b="0" i="0" u="non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92</c:v>
                </c:pt>
                <c:pt idx="2">
                  <c:v>85</c:v>
                </c:pt>
                <c:pt idx="3">
                  <c:v>80</c:v>
                </c:pt>
                <c:pt idx="4">
                  <c:v>73</c:v>
                </c:pt>
              </c:numCache>
            </c:numRef>
          </c:val>
          <c:smooth val="0"/>
        </c:ser>
        <c:dLbls>
          <c:delete val="0"/>
          <c:numFmt formatCode="#,##0" sourceLinked="0"/>
          <c:txPr>
            <a:bodyPr rot="0" vert="horz" wrap="none" lIns="0" tIns="0" rIns="0" bIns="0" anchor="ctr" anchorCtr="1"/>
            <a:p>
              <a:pPr algn="l">
                <a:defRPr sz="1200" b="0" i="0" u="non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94734554"/>
        <c:axId val="2094734552"/>
        <c:axId val="2094734556"/>
      </c:lineChart>
      <c:catAx>
        <c:axId val="2094734554"/>
        <c:scaling>
          <c:orientation val="minMax"/>
        </c:scaling>
        <c:axPos val="b"/>
        <c:crossAx val="2094734552"/>
        <c:delete val="0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002b5b"/>
                </a:solidFill>
                <a:latin typeface="Arial"/>
                <a:ea typeface="LG Smart UI Light"/>
                <a:cs typeface="LG Smart UI Light"/>
                <a:sym typeface="LG Smart UI Light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  <c:max val="100"/>
          <c:min val="70"/>
        </c:scaling>
        <c:axPos val="l"/>
        <c:crossAx val="2094734554"/>
        <c:delete val="0"/>
        <c:majorGridlines>
          <c:spPr>
            <a:ln w="1270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002b5b"/>
                </a:solidFill>
                <a:latin typeface="Arial"/>
                <a:ea typeface="LG Smart UI Light"/>
                <a:cs typeface="LG Smart UI Light"/>
                <a:sym typeface="LG Smart UI Light"/>
              </a:defRPr>
            </a:pPr>
            <a:endParaRPr/>
          </a:p>
        </c:txPr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b="0" i="0" u="none">
          <a:ea typeface="LG Smart UI Bold"/>
          <a:cs typeface="LG Smart UI Bold"/>
          <a:sym typeface="LG Smart UI Bold"/>
        </a:defRPr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수수료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invertIfNegative val="0"/>
            <c:bubble3D val="0"/>
            <c:spPr>
              <a:solidFill>
                <a:srgbClr val="FFD2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dddd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 rot="0" vert="horz" wrap="none" lIns="0" tIns="0" rIns="0" bIns="0" anchor="ctr" anchorCtr="1"/>
                <a:p>
                  <a:pPr algn="l">
                    <a:defRPr sz="1200" b="0" i="0" u="none">
                      <a:solidFill>
                        <a:srgbClr val="002b5b"/>
                      </a:solidFill>
                      <a:latin typeface="Arial"/>
                    </a:defRPr>
                  </a:pPr>
                  <a:endParaRPr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 rot="0" vert="horz" wrap="none" lIns="0" tIns="0" rIns="0" bIns="0" anchor="ctr" anchorCtr="1"/>
                <a:p>
                  <a:pPr algn="l">
                    <a:defRPr sz="1200" b="0" i="0" u="none">
                      <a:solidFill>
                        <a:srgbClr val="002b5b"/>
                      </a:solidFill>
                      <a:latin typeface="Arial"/>
                    </a:defRPr>
                  </a:pPr>
                  <a:endParaRPr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elete val="0"/>
            <c:numFmt formatCode="General" sourceLinked="0"/>
            <c:txPr>
              <a:bodyPr rot="0" vert="horz" wrap="none" lIns="0" tIns="0" rIns="0" bIns="0" anchor="ctr" anchorCtr="1"/>
              <a:p>
                <a:pPr algn="l">
                  <a:defRPr sz="1800" b="0" i="0" u="non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수수료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95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0"/>
    <c:dispBlanksAs val="gap"/>
  </c:chart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3" Type="http://schemas.openxmlformats.org/officeDocument/2006/relationships/chart" Target="../charts/chart1.xml"/><Relationship Id="rId4" Type="http://schemas.openxmlformats.org/officeDocument/2006/relationships/hyperlink" Target="www.ijprems.com/ijprems-paper/the-rise-of-e-commerce-analyzing-its-impact-on-offline-retail-and-consumer-behaviour#:~:text=faced%20declining%20foot%20traffic%2C%20increased,behaviour%20has%20undergone%20a%20significan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_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1"/>
          <p:cNvSpPr/>
          <p:nvPr/>
        </p:nvSpPr>
        <p:spPr>
          <a:xfrm>
            <a:off x="365760" y="1828800"/>
            <a:ext cx="4114800" cy="2194560"/>
          </a:xfrm>
          <a:prstGeom prst="rect">
            <a:avLst/>
          </a:prstGeom>
          <a:noFill/>
          <a:ln/>
        </p:spPr>
        <p:txBody>
          <a:bodyPr wrap="square" anchor="ctr" lIns="0" rIns="0" tIns="0" bIns="0">
            <a:noAutofit/>
          </a:bodyPr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51515"/>
                </a:solidFill>
                <a:latin typeface="LG Smart UI Bold"/>
                <a:ea typeface="LG Smart UI Bold"/>
              </a:rPr>
              <a:t>지역 기반 공동구매 물류 거점 제안</a:t>
            </a:r>
            <a:endParaRPr lang="en-US" sz="2800" b="1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0" indent="0" algn="l">
              <a:buNone/>
              <a:defRPr/>
            </a:pPr>
            <a:r>
              <a:rPr lang="en-US" sz="1200" b="0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 점포 방문 유입 및 추가 수익 창출 모델</a:t>
            </a:r>
            <a:endParaRPr lang="en-US" sz="2800">
              <a:latin typeface="LG Smart UI Bold"/>
              <a:ea typeface="LG Smart UI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365760" y="4343400"/>
            <a:ext cx="4572000" cy="201168"/>
          </a:xfrm>
          <a:prstGeom prst="rect">
            <a:avLst/>
          </a:prstGeom>
          <a:noFill/>
          <a:ln/>
        </p:spPr>
        <p:txBody>
          <a:bodyPr wrap="square" anchor="ctr" lIns="0" rIns="0" tIns="0" bIns="0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51515"/>
                </a:solidFill>
              </a:rPr>
              <a:t>제안사명</a:t>
            </a:r>
            <a:endParaRPr lang="en-US" sz="1000"/>
          </a:p>
        </p:txBody>
      </p:sp>
      <p:sp>
        <p:nvSpPr>
          <p:cNvPr id="6" name="Text 3"/>
          <p:cNvSpPr/>
          <p:nvPr/>
        </p:nvSpPr>
        <p:spPr>
          <a:xfrm>
            <a:off x="365760" y="4553712"/>
            <a:ext cx="4572000" cy="201168"/>
          </a:xfrm>
          <a:prstGeom prst="rect">
            <a:avLst/>
          </a:prstGeom>
          <a:noFill/>
          <a:ln/>
        </p:spPr>
        <p:txBody>
          <a:bodyPr wrap="square" anchor="ctr" lIns="0" rIns="0" tIns="0" bIns="0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51515"/>
                </a:solidFill>
              </a:rPr>
              <a:t>제안일: 2026-03-01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365760" y="4764024"/>
            <a:ext cx="4572000" cy="201168"/>
          </a:xfrm>
          <a:prstGeom prst="rect">
            <a:avLst/>
          </a:prstGeom>
          <a:noFill/>
          <a:ln/>
        </p:spPr>
        <p:txBody>
          <a:bodyPr wrap="square" anchor="ctr" lIns="0" rIns="0" tIns="0" bIns="0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51515"/>
                </a:solidFill>
              </a:rPr>
              <a:t>담당자 연락처: 010-0000-0000</a:t>
            </a:r>
            <a:endParaRPr lang="en-US" sz="100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1">
                <a:solidFill>
                  <a:srgbClr val="FFD200"/>
                </a:solidFill>
                <a:latin typeface="Consolas"/>
              </a:rPr>
              <a:t>EMART EVERYDAY   ·   PROPOSAL   ·   2026.03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548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200" b="1">
                <a:solidFill>
                  <a:srgbClr val="FFD200"/>
                </a:solidFill>
                <a:latin typeface="Consolas"/>
              </a:rPr>
              <a:t>NO.01 / 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600200"/>
            <a:ext cx="548640" cy="36576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206240"/>
            <a:ext cx="731520" cy="2743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오프라인 점포 매출 환경 변화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297680" cy="2743200"/>
          </a:xfrm>
          <a:prstGeom prst="rect">
            <a:avLst/>
          </a:prstGeom>
          <a:noFill/>
          <a:ln/>
        </p:spPr>
        <p:txBody>
          <a:bodyPr wrap="square" lIns="1269" tIns="1269" rIns="1269" bIns="1269" anchor="ctr"/>
          <a:lstStyle/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온라인 커머스 확장으로 오프라인 방문 감소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가격 비교 문화 확대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단순 매대 중심 상품으로는 차별화 한계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지역 점포의 신규 방문 유도 전략 필요</a:t>
            </a:r>
            <a:endParaRPr lang="en-US" sz="1200">
              <a:latin typeface="LG Smart UI Bold"/>
              <a:ea typeface="LG Smart UI Bold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846320" y="1371600"/>
          <a:ext cx="3840480" cy="2286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3867912"/>
            <a:ext cx="7589520" cy="5029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점포에 다시 방문할 이유를 만드는 구조가 필요합니다.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600" u="sng">
                <a:solidFill>
                  <a:srgbClr val="151515"/>
                </a:solidFill>
                <a:latin typeface="LG Smart UI Bold"/>
                <a:ea typeface="LG Smart UI Bold"/>
                <a:hlinkClick r:id="rId4"/>
              </a:rPr>
              <a:t>[1]</a:t>
            </a:r>
            <a:endParaRPr lang="en-US" sz="6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지역 공동구매 수령 거점 모델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" y="2249424"/>
            <a:ext cx="548640" cy="438912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411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소비자 모집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8288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83464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00400" y="2225040"/>
            <a:ext cx="548640" cy="48768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2697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공동구매 진행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1148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12064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86400" y="2249424"/>
            <a:ext cx="548640" cy="438912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4983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납품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4008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40664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772400" y="2225040"/>
            <a:ext cx="548640" cy="487680"/>
          </a:xfrm>
          <a:prstGeom prst="rect">
            <a:avLst/>
          </a:prstGeom>
          <a:ln/>
        </p:spPr>
      </p:pic>
      <p:sp>
        <p:nvSpPr>
          <p:cNvPr id="17" name="Text 11"/>
          <p:cNvSpPr/>
          <p:nvPr/>
        </p:nvSpPr>
        <p:spPr>
          <a:xfrm>
            <a:off x="7269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소비자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이마트 에브리데이 점포를 지역 공동구매 상품의 수령 거점으로 활용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점포에 제공되는 직접 수익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noFill/>
          <a:ln/>
        </p:spPr>
        <p:txBody>
          <a:bodyPr wrap="square" lIns="1269" tIns="1269" rIns="1269" bIns="1269" anchor="ctr"/>
          <a:lstStyle/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공동구매 판매 금액의 5% 수수료 지급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별도 인력 투입 없음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기존 공간 활용</a:t>
            </a:r>
            <a:endParaRPr lang="en-US" sz="1200">
              <a:latin typeface="LG Smart UI Bold"/>
              <a:ea typeface="LG Smart UI Bold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480560" y="1371600"/>
          <a:ext cx="3657600" cy="2286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480560" y="3749040"/>
          <a:ext cx="3657600" cy="914400"/>
        </p:xfrm>
        <a:graphic>
          <a:graphicData uri="http://schemas.openxmlformats.org/drawingml/2006/table">
            <a:tbl>
              <a:tblGrid>
                <a:gridCol w="1828800"/>
                <a:gridCol w="1828800"/>
              </a:tblGrid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51515"/>
                          </a:solidFill>
                        </a:rPr>
                        <a:t>항목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51515"/>
                          </a:solidFill>
                        </a:rPr>
                        <a:t>수치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</a:tr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1회 공구 매출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1,000만원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점포 수수료 (5%)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50만원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20624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Text 3"/>
          <p:cNvSpPr/>
          <p:nvPr/>
        </p:nvSpPr>
        <p:spPr>
          <a:xfrm>
            <a:off x="502920" y="4224528"/>
            <a:ext cx="3840480" cy="6035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추가 고정비 없이 발생하는 순수 수익 구조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endParaRPr lang="en-US" sz="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점포 방문 증가 효과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1097280" cy="109728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3000" y="1910080"/>
            <a:ext cx="640080" cy="56896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수령 필수 방문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공동구매 수령을 위해 점포 방문이 필수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0" y="1645920"/>
            <a:ext cx="1097280" cy="109728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926205" y="1874520"/>
            <a:ext cx="560070" cy="64008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33832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추가 구매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3832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방문 중 추가 구매 가능성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0" y="1645920"/>
            <a:ext cx="1097280" cy="109728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629400" y="1874520"/>
            <a:ext cx="640080" cy="64008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61264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재유입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1264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지역 고객 재유입 효과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005840" y="4407408"/>
            <a:ext cx="713232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공동구매는 매출 이전에 방문 유입 전략입니다.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기존 공</a:t>
            </a:r>
            <a:r>
              <a:rPr lang="ko-KR" alt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동</a:t>
            </a: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구</a:t>
            </a:r>
            <a:r>
              <a:rPr lang="ko-KR" alt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매</a:t>
            </a: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 모델과의 차이</a:t>
            </a:r>
            <a:endParaRPr lang="en-US" sz="2000" b="1">
              <a:solidFill>
                <a:srgbClr val="002b5b"/>
              </a:solidFill>
              <a:latin typeface="LG Smart UI Bold"/>
              <a:ea typeface="LG Smart UI Bold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14400" y="1463040"/>
          <a:ext cx="7315200" cy="2286000"/>
        </p:xfrm>
        <a:graphic>
          <a:graphicData uri="http://schemas.openxmlformats.org/drawingml/2006/table">
            <a:tbl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기존 공</a:t>
                      </a:r>
                      <a:r>
                        <a:rPr lang="ko-KR" alt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동구매</a:t>
                      </a:r>
                      <a:endParaRPr lang="ko-KR" altLang="en-US" sz="1500" b="1">
                        <a:solidFill>
                          <a:srgbClr val="ffffff"/>
                        </a:solidFill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제안 모델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공간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임대 공간 필요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점포 활용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인력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상주 인력 필요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점포 수령 구조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택배비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개별 택배비 발생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일괄 납품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운영비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부담 큼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수수료 기반 구조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666666"/>
                </a:solidFill>
                <a:latin typeface="LG Smart UI Bold"/>
                <a:ea typeface="LG Smart UI Bold"/>
              </a:rPr>
              <a:t>점포 유휴 공간을 활용한 비용 최소화 모델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소비자 참여 프로세스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1520" y="2225040"/>
            <a:ext cx="548640" cy="48768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27432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방문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6459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01168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411730" y="2194560"/>
            <a:ext cx="480060" cy="54864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192024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QR 스캔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9184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65760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023360" y="2148840"/>
            <a:ext cx="548640" cy="54864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356616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채널 구독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3776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30352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37860" y="2194560"/>
            <a:ext cx="411480" cy="548640"/>
          </a:xfrm>
          <a:prstGeom prst="rect">
            <a:avLst/>
          </a:prstGeom>
          <a:ln/>
        </p:spPr>
      </p:pic>
      <p:sp>
        <p:nvSpPr>
          <p:cNvPr id="17" name="Text 11"/>
          <p:cNvSpPr/>
          <p:nvPr/>
        </p:nvSpPr>
        <p:spPr>
          <a:xfrm>
            <a:off x="521208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공동구매 신청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58368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94944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349490" y="2194560"/>
            <a:ext cx="480060" cy="548640"/>
          </a:xfrm>
          <a:prstGeom prst="rect">
            <a:avLst/>
          </a:prstGeom>
          <a:ln/>
        </p:spPr>
      </p:pic>
      <p:sp>
        <p:nvSpPr>
          <p:cNvPr id="21" name="Text 14"/>
          <p:cNvSpPr/>
          <p:nvPr/>
        </p:nvSpPr>
        <p:spPr>
          <a:xfrm>
            <a:off x="685800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005840" y="4407408"/>
            <a:ext cx="713232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온라인 유입 → 오프라인 방문 연결 구조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공동구매 상품 전략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4370" y="1783080"/>
            <a:ext cx="205740" cy="27432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097280" y="160020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30~40% 할인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196596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시중가 대비 30~40% 할인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0" y="1463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89170" y="1783080"/>
            <a:ext cx="205740" cy="27432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5212080" y="160020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차별화 상품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12080" y="196596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대기업 브랜드 중심이 아닌 차별화 상품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4370" y="3337560"/>
            <a:ext cx="205740" cy="27432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선공개·지역 한정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097280" y="352044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선공개 / 지역 한정 상품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0" y="301752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754880" y="3352800"/>
            <a:ext cx="274320" cy="24384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5212080" y="315468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자체 기획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212080" y="352044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자체 기획 상품 중심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960120" y="44074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가격 경쟁이 아닌 차별화 상품 중심 전략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운영 프로세스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48156" y="2029968"/>
            <a:ext cx="246888" cy="329184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731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수량 확정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1031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926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493008" y="2062886"/>
            <a:ext cx="329184" cy="263347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3017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납품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891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212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6928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79008" y="2048256"/>
            <a:ext cx="329184" cy="292608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5303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소비자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6751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498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95528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065008" y="2048256"/>
            <a:ext cx="329184" cy="292608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589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5% 정산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60120" y="44074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점포 운영 부담 최소화 설계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점포 부담 최소화 설계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0080" y="1810512"/>
            <a:ext cx="274320" cy="219456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097280" y="157276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설명 인력 불필요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190195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QR 코드 안내 중심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0" y="14630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72025" y="1783080"/>
            <a:ext cx="240030" cy="27432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5212080" y="157276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QR 안내 구조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12080" y="190195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간단한 QR 활용 절차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40080" y="3337560"/>
            <a:ext cx="274320" cy="27432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1097280" y="312724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단순 수령 확인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097280" y="345643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간단한 수령 확인 방식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0" y="30175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772025" y="3337560"/>
            <a:ext cx="240030" cy="27432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5212080" y="312724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단기 테스트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212080" y="345643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단기 테스트 운영 가능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파일럿 운영 제안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61288" y="2048256"/>
            <a:ext cx="329184" cy="292608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594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3~5개 점포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2860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43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3756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447288" y="2048256"/>
            <a:ext cx="329184" cy="292608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2880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1~2개 상품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5720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029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2356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53862" y="2029968"/>
            <a:ext cx="288036" cy="329184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5166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3개월 운영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8580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315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90956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019288" y="2029968"/>
            <a:ext cx="329184" cy="329184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452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데이터 검증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60120" y="44074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리스크 없는 실험 구조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기대 효과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4370" y="1965960"/>
            <a:ext cx="205740" cy="27432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097280" y="173736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방문 증가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205740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방문 증가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004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91840" y="18745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383280" y="1965960"/>
            <a:ext cx="274320" cy="27432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3840480" y="173736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수익 확대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840480" y="205740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점주 수익 확대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436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35040" y="18745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126480" y="1993392"/>
            <a:ext cx="274320" cy="219456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6583680" y="173736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재활성화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583680" y="205740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지역 고객 재활성화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40080" y="3429000"/>
            <a:ext cx="274320" cy="27432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1097280" y="320040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마케팅 절감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097280" y="352044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마케팅 비용 절감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20040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91840" y="333756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383280" y="3429000"/>
            <a:ext cx="274320" cy="274320"/>
          </a:xfrm>
          <a:prstGeom prst="rect">
            <a:avLst/>
          </a:prstGeom>
          <a:ln/>
        </p:spPr>
      </p:pic>
      <p:sp>
        <p:nvSpPr>
          <p:cNvPr id="26" name="Text 19"/>
          <p:cNvSpPr/>
          <p:nvPr/>
        </p:nvSpPr>
        <p:spPr>
          <a:xfrm>
            <a:off x="3840480" y="320040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경쟁력 강화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3840480" y="352044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경쟁력 강화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리스크 대응 방안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81862" y="2029968"/>
            <a:ext cx="288036" cy="329184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59436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초기 테스트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6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초기 테스트 운영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6670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6136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371088" y="2029968"/>
            <a:ext cx="329184" cy="329184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280416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판매 부진시 종료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80416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판매 부진 시 종료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89585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9021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99938" y="2029968"/>
            <a:ext cx="329184" cy="329184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503301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사은품 남용 방지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03301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사은품 남용 방지 설계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06755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66191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771638" y="2062886"/>
            <a:ext cx="329184" cy="263347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20471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운영 간소화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20471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운영 간소화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4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에브리데이와의 협력 제안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1792" y="1456944"/>
            <a:ext cx="219456" cy="195072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005840" y="13990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유휴 역량을 활용한 추가 수익 모델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9224" y="2130552"/>
            <a:ext cx="164592" cy="219456"/>
          </a:xfrm>
          <a:prstGeom prst="rect">
            <a:avLst/>
          </a:prstGeom>
          <a:ln/>
        </p:spPr>
      </p:pic>
      <p:sp>
        <p:nvSpPr>
          <p:cNvPr id="10" name="Text 6"/>
          <p:cNvSpPr/>
          <p:nvPr/>
        </p:nvSpPr>
        <p:spPr>
          <a:xfrm>
            <a:off x="1005840" y="20848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방문 유입 중심 구조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21792" y="2828544"/>
            <a:ext cx="219456" cy="195072"/>
          </a:xfrm>
          <a:prstGeom prst="rect">
            <a:avLst/>
          </a:prstGeom>
          <a:ln/>
        </p:spPr>
      </p:pic>
      <p:sp>
        <p:nvSpPr>
          <p:cNvPr id="14" name="Text 9"/>
          <p:cNvSpPr/>
          <p:nvPr/>
        </p:nvSpPr>
        <p:spPr>
          <a:xfrm>
            <a:off x="1005840" y="27706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비용 부담 최소화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57200" y="33375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21792" y="3502152"/>
            <a:ext cx="219456" cy="219456"/>
          </a:xfrm>
          <a:prstGeom prst="rect">
            <a:avLst/>
          </a:prstGeom>
          <a:ln/>
        </p:spPr>
      </p:pic>
      <p:sp>
        <p:nvSpPr>
          <p:cNvPr id="18" name="Text 12"/>
          <p:cNvSpPr/>
          <p:nvPr/>
        </p:nvSpPr>
        <p:spPr>
          <a:xfrm>
            <a:off x="1005840" y="34564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파일럿을 통한 검증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400800" y="1371600"/>
            <a:ext cx="2286000" cy="22860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858000" y="1965960"/>
            <a:ext cx="1371600" cy="1097280"/>
          </a:xfrm>
          <a:prstGeom prst="rect">
            <a:avLst/>
          </a:prstGeom>
          <a:ln/>
        </p:spPr>
      </p:pic>
      <p:sp>
        <p:nvSpPr>
          <p:cNvPr id="21" name="Shape 14"/>
          <p:cNvSpPr/>
          <p:nvPr/>
        </p:nvSpPr>
        <p:spPr>
          <a:xfrm>
            <a:off x="457200" y="39319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 점포에 실질적 이익을 제공하는 구조를 제안드립니다.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382</ep:Words>
  <ep:PresentationFormat>On-screen Show (16:9)</ep:PresentationFormat>
  <ep:Paragraphs>97</ep:Paragraphs>
  <ep:Slides>14</ep:Slides>
  <ep:Notes>14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2026-03-01T12:12:56.000</dcterms:created>
  <dc:creator>PptxGenJS</dc:creator>
  <cp:lastModifiedBy>dhchd</cp:lastModifiedBy>
  <dcterms:modified xsi:type="dcterms:W3CDTF">2026-03-01T12:21:40.519</dcterms:modified>
  <cp:revision>3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