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51960"/>
            <a:ext cx="12188952" cy="2606040"/>
          </a:xfrm>
          <a:prstGeom prst="rect">
            <a:avLst/>
          </a:prstGeom>
          <a:solidFill>
            <a:srgbClr val="162E46"/>
          </a:solidFill>
          <a:ln/>
        </p:spPr>
      </p:sp>
      <p:sp>
        <p:nvSpPr>
          <p:cNvPr id="4" name="Shape 2"/>
          <p:cNvSpPr/>
          <p:nvPr/>
        </p:nvSpPr>
        <p:spPr>
          <a:xfrm>
            <a:off x="6703924" y="0"/>
            <a:ext cx="5485028" cy="4251960"/>
          </a:xfrm>
          <a:prstGeom prst="rect">
            <a:avLst/>
          </a:prstGeom>
          <a:solidFill>
            <a:srgbClr val="244F76"/>
          </a:solidFill>
          <a:ln w="12700">
            <a:solidFill>
              <a:srgbClr val="244F7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97096"/>
            <a:ext cx="11274552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 연간 매출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보고서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32004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906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January – December 2025  |  Annual Sales Report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5948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6680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매출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9240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141.4억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377440" y="45948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46680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이익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49240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50.0억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06240" y="45948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46680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49240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35.4%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035040" y="459486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46680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건수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492404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300건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76045" y="1463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44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44F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445752" y="6400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작성일: 2026.04.14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  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0" cy="1463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07008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요약 (Executive Summary)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8928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KPI 및 연간 성과 개요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123444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F0F7FF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1234440"/>
            <a:ext cx="640080" cy="1463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23444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059168" y="146304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매출 추이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59168" y="18928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월간 매출·비용·이익 및 이익률 변동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8036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80360"/>
            <a:ext cx="640080" cy="1463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8036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07008" y="3108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실적 분석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07008" y="35387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사업부문 성과 비교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288036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F0F7FF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2880360"/>
            <a:ext cx="64008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288036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59168" y="310896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담당자별 성과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59168" y="35387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13명 영업 담당자 실적 현황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526280"/>
            <a:ext cx="64008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52628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207008" y="4754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상품·수익성 분석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07008" y="51846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23개 항목별 이익률 및 매출 비중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09360" y="452628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F0F7FF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09360" y="4526280"/>
            <a:ext cx="64008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52628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059168" y="475488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 분석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059168" y="51846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거래처 TOP10 현황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172200"/>
            <a:ext cx="5577840" cy="1463040"/>
          </a:xfrm>
          <a:prstGeom prst="roundRect">
            <a:avLst>
              <a:gd name="adj" fmla="val 6250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6172200"/>
            <a:ext cx="64008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172200"/>
            <a:ext cx="640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207008" y="6400800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인사이트 &amp; 액션 플랜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07008" y="68305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발견된 기회와 2026년 권고사항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경영 요약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  |  2025년 연간 실적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078992"/>
          </a:xfrm>
          <a:prstGeom prst="roundRect">
            <a:avLst>
              <a:gd name="adj" fmla="val 8475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216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총 매출액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35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141.4억원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8196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₩14,141,637,913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64408" y="1143000"/>
            <a:ext cx="2743200" cy="1078992"/>
          </a:xfrm>
          <a:prstGeom prst="roundRect">
            <a:avLst>
              <a:gd name="adj" fmla="val 8475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1216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총 이익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64408" y="1435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50.0억원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64408" y="18196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₩5,000,605,099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08776" y="1143000"/>
            <a:ext cx="2743200" cy="1078992"/>
          </a:xfrm>
          <a:prstGeom prst="roundRect">
            <a:avLst>
              <a:gd name="adj" fmla="val 8475"/>
            </a:avLst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1216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이익률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8776" y="1435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35.4%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08776" y="18196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대비 +0.4%p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53144" y="1143000"/>
            <a:ext cx="2743200" cy="1078992"/>
          </a:xfrm>
          <a:prstGeom prst="roundRect">
            <a:avLst>
              <a:gd name="adj" fmla="val 8475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3144" y="1216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매출 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53144" y="14356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53144" y="18196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15.8억 달성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395728"/>
            <a:ext cx="115214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3957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48840" y="23957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상반기(1~6월)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23957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하반기(7~12월)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23957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합계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18320" y="2395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743200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7432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매출액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148840" y="2743200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48840" y="27432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67.2억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2743200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27432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74.2억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995160" y="2743200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5160" y="27432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141.4억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418320" y="2743200"/>
            <a:ext cx="246888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18320" y="274320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하반기 +10.4% ▲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3163824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148840" y="316382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48840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23.3억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316382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26.7억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95160" y="3163824"/>
            <a:ext cx="23774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5160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50.0억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418320" y="3163824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18320" y="316382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하반기 +14.5% ▲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" y="3584448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5844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이익률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148840" y="3584448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48840" y="35844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34.7%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572000" y="3584448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0" y="35844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36.0%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995160" y="3584448"/>
            <a:ext cx="237744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35844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35.4%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418320" y="3584448"/>
            <a:ext cx="2468880" cy="420624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18320" y="358444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하반기 이익률 개선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20040" y="4069080"/>
            <a:ext cx="11521440" cy="640080"/>
          </a:xfrm>
          <a:prstGeom prst="roundRect">
            <a:avLst>
              <a:gd name="adj" fmla="val 11429"/>
            </a:avLst>
          </a:prstGeom>
          <a:solidFill>
            <a:srgbClr val="FFF2C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069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4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 하반기 매출이 상반기 대비 25.1% 성장하며 연간 최고 기록 갱신. 12월 단월 최고 매출(158억) 달성. 이익률은 연중 안정적 35% 유지.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매출 추이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월별 매출 분석  |  매출액 · 비용 · 이익 비교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78638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097280"/>
            <a:ext cx="3657600" cy="4114800"/>
          </a:xfrm>
          <a:prstGeom prst="rect">
            <a:avLst/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097280"/>
            <a:ext cx="3657600" cy="347472"/>
          </a:xfrm>
          <a:prstGeom prst="rect">
            <a:avLst/>
          </a:prstGeom>
          <a:solidFill>
            <a:srgbClr val="9DC3E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월별 순위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321040" y="1444752"/>
            <a:ext cx="3657600" cy="301752"/>
          </a:xfrm>
          <a:prstGeom prst="rect">
            <a:avLst/>
          </a:prstGeom>
          <a:solidFill>
            <a:srgbClr val="E2EFD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66760" y="144475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  12월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241280" y="1444752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15.8억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01400" y="144475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37.3%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321040" y="1746504"/>
            <a:ext cx="3657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66760" y="1746504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  11월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241280" y="1746504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14.1억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01400" y="174650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36.3%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321040" y="2048256"/>
            <a:ext cx="3657600" cy="301752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66760" y="204825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3위  10월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41280" y="204825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13.7억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1201400" y="2048256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34.5%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8321040" y="2350008"/>
            <a:ext cx="3657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35000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4위  06월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241280" y="2350008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13.4억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201400" y="235000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34.2%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321040" y="2651760"/>
            <a:ext cx="3657600" cy="301752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66760" y="265176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5위  05월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241280" y="2651760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12.8억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01400" y="265176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33.8%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8321040" y="2953512"/>
            <a:ext cx="3657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66760" y="295351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6위  09월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241280" y="2953512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11.7억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201400" y="295351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34.9%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8321040" y="3255264"/>
            <a:ext cx="3657600" cy="301752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66760" y="3255264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7위  03월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241280" y="3255264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11.4억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201400" y="325526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35.3%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8321040" y="3557016"/>
            <a:ext cx="3657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366760" y="3557016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8위  04월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10241280" y="355701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10.4억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11201400" y="3557016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35.3%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8321040" y="3858768"/>
            <a:ext cx="3657600" cy="301752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66760" y="3858768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9위  01월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0241280" y="3858768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9.8억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201400" y="385876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35.3%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8321040" y="4160520"/>
            <a:ext cx="36576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66760" y="4160520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10위  07월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0241280" y="4160520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9.7억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201400" y="416052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36.0%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8321040" y="4462272"/>
            <a:ext cx="3657600" cy="301752"/>
          </a:xfrm>
          <a:prstGeom prst="rect">
            <a:avLst/>
          </a:prstGeom>
          <a:solidFill>
            <a:srgbClr val="EEF4FB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366760" y="4462272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11위  02월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10241280" y="4462272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9.3억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11201400" y="4462272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34.4%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8321040" y="4764024"/>
            <a:ext cx="3657600" cy="301752"/>
          </a:xfrm>
          <a:prstGeom prst="rect">
            <a:avLst/>
          </a:prstGeom>
          <a:solidFill>
            <a:srgbClr val="FFE0E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366760" y="4764024"/>
            <a:ext cx="1828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12위  08월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0241280" y="4764024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9.2억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11201400" y="4764024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36.9%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4320" y="5349240"/>
            <a:ext cx="11704320" cy="384048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57200" y="534924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최고: 12월 15.8억  |  최저: 08월 9.2억  |  월평균: 11.8억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이익률 트렌드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월별 이익률 변동  |  고·저 이익률 월 식별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8229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0" y="109728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96528" y="1170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고이익률 월 TOP3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96528" y="148132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🥇  12월  37.3%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96528" y="19019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🥈  08월  36.9%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96528" y="23225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🥉  11월  36.3%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0" y="3108960"/>
            <a:ext cx="3246120" cy="1920240"/>
          </a:xfrm>
          <a:prstGeom prst="roundRect">
            <a:avLst>
              <a:gd name="adj" fmla="val 3810"/>
            </a:avLst>
          </a:prstGeom>
          <a:solidFill>
            <a:srgbClr val="FFE0E0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96528" y="3182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 저이익률 월 BOTTOM3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796528" y="34930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 05월  33.8%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96528" y="391363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 06월  34.2%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96528" y="433425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 02월  34.4%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74320" y="5349240"/>
            <a:ext cx="11704320" cy="384048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534924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연중 이익률 변동폭 3.5%p 이내로 안정적. 하반기(평균 35.9%)가 상반기(34.7%)보다 1.2%p 높음 — 비용 효율 개선 효과.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부서별 실적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5개 사업부문 성과 비교  |  매출·이익·이익률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0"/>
            <a:ext cx="685800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0" y="109728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0" y="1097280"/>
            <a:ext cx="457200" cy="777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0" y="10972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1위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863840" y="11430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해외사업부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86384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29.4억  |  이익률 35.2%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0" y="196596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0" y="1965960"/>
            <a:ext cx="457200" cy="7772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0" y="19659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2위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63840" y="2011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온라인사업부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6384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29.0억  |  이익률 35.9%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0" y="283464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0" y="2834640"/>
            <a:ext cx="457200" cy="7772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0" y="2834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3위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6384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영업1팀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863840" y="3200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28.2억  |  이익률 34.0%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315200" y="370332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0" y="3703320"/>
            <a:ext cx="457200" cy="777240"/>
          </a:xfrm>
          <a:prstGeom prst="rect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0" y="37033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4위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86384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마케팅팀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7863840" y="4069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27.8억  |  이익률 36.0%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315200" y="4572000"/>
            <a:ext cx="46177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15200" y="4572000"/>
            <a:ext cx="457200" cy="777240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0" y="45720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5위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863840" y="4617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영업2팀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863840" y="4937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 27.0억  |  이익률 35.7%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4320" y="5074920"/>
            <a:ext cx="11704320" cy="640080"/>
          </a:xfrm>
          <a:prstGeom prst="roundRect">
            <a:avLst>
              <a:gd name="adj" fmla="val 8571"/>
            </a:avLst>
          </a:prstGeom>
          <a:solidFill>
            <a:srgbClr val="FFF2C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5074920"/>
            <a:ext cx="11521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매출 1위: 해외사업부(29.4억)  |  이익률 1위: 마케팅팀(36.0%)  |  부서 간 매출 격차 약 234억 — 영업1팀 강화 필요.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담당자별 성과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13명 영업 담당자  |  매출 vs 이익률 비교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868680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052560" y="105156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052560" y="1051560"/>
            <a:ext cx="288036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0" y="105156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매출 TOP3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89720" y="143560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임도현  16.6억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89720" y="17465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윤재혁  14.8억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89720" y="20574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조은비  14.2억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052560" y="256032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052560" y="2560320"/>
            <a:ext cx="2880360" cy="32918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2560" y="256032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이익률 TOP3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89720" y="29443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이지현  36.4%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89720" y="32552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오수진  36.2%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189720" y="35661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박소연  36.2%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052560" y="406908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52560" y="4069080"/>
            <a:ext cx="2880360" cy="32918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0" y="406908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이익률 하위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189720" y="44531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강민지  33.3%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189720" y="476402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최영호  33.6%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189720" y="50749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정해준  35.0%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74320" y="5349240"/>
            <a:ext cx="11704320" cy="384048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534924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임도현(166억) 매출 1위, 이지현(36.4%) 이익률 1위. 강민지·최영호는 이익률 개선 여지 있음 → 영업 전략 및 협상력 교육 권고.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상품·수익성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23개 항목별 이익률 비교  |  고마진·저마진 식별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5303520" cy="38404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51560"/>
            <a:ext cx="6217920" cy="3840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60720" y="4983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562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진한색: 이익률 37%↑ (고마진)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7790688" y="4983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중간색: 이익률 35~37%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9820656" y="49834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■ 연한색: 이익률 35%↓ (저마진)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74320" y="5321808"/>
            <a:ext cx="11704320" cy="411480"/>
          </a:xfrm>
          <a:prstGeom prst="roundRect">
            <a:avLst>
              <a:gd name="adj" fmla="val 13333"/>
            </a:avLst>
          </a:prstGeom>
          <a:solidFill>
            <a:srgbClr val="FFF2C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7200" y="5321808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브랜딩 컨설팅(38.1%), 일본 수출(38.0%), 엔터프라이즈(37.8%) 고마진 3종 집중 확대 권고. 싱가포르 프로젝트(32.9%) 원가 재검토 필요.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거래처 분석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거래처 TOP10  |  매출 비중 &amp; 수익성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51560"/>
            <a:ext cx="80467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05156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F4E79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051560"/>
            <a:ext cx="438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97112" y="10972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케이에스테크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897112" y="1389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14.8억  |  점유 10.5%  |  이익률 36.0%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458200" y="192024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1920240"/>
            <a:ext cx="438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97112" y="196596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미래테크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897112" y="22585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11.5억  |  점유 8.1%  |  이익률 33.8%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458200" y="278892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58200" y="2788920"/>
            <a:ext cx="438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97112" y="283464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넥스트웨어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897112" y="31272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11.2억  |  점유 7.9%  |  이익률 34.4%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458200" y="365760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58200" y="3657600"/>
            <a:ext cx="438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97112" y="37033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블루오션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897112" y="39959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10.4억  |  점유 7.3%  |  이익률 35.0%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458200" y="452628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58200" y="4526280"/>
            <a:ext cx="438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897112" y="45720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4E7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에이치엔솔루션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897112" y="48646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10.2억  |  점유 7.2%  |  이익률 35.9%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74320" y="5349240"/>
            <a:ext cx="11704320" cy="384048"/>
          </a:xfrm>
          <a:prstGeom prst="roundRect">
            <a:avLst>
              <a:gd name="adj" fmla="val 14286"/>
            </a:avLst>
          </a:prstGeom>
          <a:solidFill>
            <a:srgbClr val="FFF2CC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534924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4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 케이에스테크이 14.8억(10.5%)으로 압도적 1위. 동아시스템즈는 이익률 36.6%로 수익성 최우수. 상위 5개사가 전체의 48% 차지 → 집중 관리 필요.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인사이트 &amp; 액션 플랜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Key Insights &amp; Action Plan  |  2026년 전략 방향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37490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5214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📈  하반기 강세 지속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36192"/>
            <a:ext cx="352958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하반기 평균 매출 140억, 상반기 112억 대비 +25.1%. 10~12월 3연속 최고 기록.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1115568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E2EFD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115568"/>
            <a:ext cx="3749040" cy="34747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5968" y="115214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 이익률 안정 (35%대)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15968" y="1536192"/>
            <a:ext cx="352958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연중 최저 33.8%(5월)~최고 37.3%(12월). 8·11·12월 비용 효율 우수.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115568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115568"/>
            <a:ext cx="37490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47888" y="115214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🏆  고마진 항목 발굴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47888" y="1536192"/>
            <a:ext cx="352958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브랜딩 컨설팅 38.1%, 일본수출 38.0%, 엔터프라이즈 37.8% → 투자 확대.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15768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FFE0E0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15768"/>
            <a:ext cx="374904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75234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 저마진 항목 경고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3136392"/>
            <a:ext cx="352958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싱가포르 프로젝트 32.9%, 현지기술지원 33.2% → 원가 구조 재검토.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06240" y="2715768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E2EFDA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715768"/>
            <a:ext cx="3749040" cy="34747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275234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👑  케이에스테크 핵심 고객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15968" y="3136392"/>
            <a:ext cx="352958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148억(10.5%) 1위 고객. 동아시스템즈 이익률 36.6%로 수익성도 탁월.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2715768"/>
            <a:ext cx="3749040" cy="1481328"/>
          </a:xfrm>
          <a:prstGeom prst="roundRect">
            <a:avLst>
              <a:gd name="adj" fmla="val 6173"/>
            </a:avLst>
          </a:prstGeom>
          <a:solidFill>
            <a:srgbClr val="EEF4FB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715768"/>
            <a:ext cx="37490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47888" y="2752344"/>
            <a:ext cx="35295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🌟  임도현·이지현 투 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47888" y="3136392"/>
            <a:ext cx="352958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임도현 매출 1위(166억), 이지현 이익률 1위(36.4%). 강민지·최영호 개선 필요.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352544"/>
            <a:ext cx="11640312" cy="3200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352544"/>
            <a:ext cx="116403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 권고 액션 플랜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672584"/>
            <a:ext cx="11640312" cy="256032"/>
          </a:xfrm>
          <a:prstGeom prst="rect">
            <a:avLst/>
          </a:prstGeom>
          <a:solidFill>
            <a:srgbClr val="FFF2CC"/>
          </a:solidFill>
          <a:ln w="12700">
            <a:solidFill>
              <a:srgbClr val="E0E0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67258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브랜딩·일본수출·엔터프라이즈 라인업 확대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4928616"/>
            <a:ext cx="11640312" cy="256032"/>
          </a:xfrm>
          <a:prstGeom prst="rect">
            <a:avLst/>
          </a:prstGeom>
          <a:solidFill>
            <a:srgbClr val="FFFFF0"/>
          </a:solidFill>
          <a:ln w="12700">
            <a:solidFill>
              <a:srgbClr val="E0E0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92861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싱가포르·현지기술지원 원가 절감 수립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5184648"/>
            <a:ext cx="11640312" cy="256032"/>
          </a:xfrm>
          <a:prstGeom prst="rect">
            <a:avLst/>
          </a:prstGeom>
          <a:solidFill>
            <a:srgbClr val="FFF2CC"/>
          </a:solidFill>
          <a:ln w="12700">
            <a:solidFill>
              <a:srgbClr val="E0E0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518464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케이에스테크·동아시스템즈 전담 관리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5440680"/>
            <a:ext cx="11640312" cy="256032"/>
          </a:xfrm>
          <a:prstGeom prst="rect">
            <a:avLst/>
          </a:prstGeom>
          <a:solidFill>
            <a:srgbClr val="FFFFF0"/>
          </a:solidFill>
          <a:ln w="12700">
            <a:solidFill>
              <a:srgbClr val="E0E0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5440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강민지·최영호 협상력 교육 지원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5696712"/>
            <a:ext cx="11640312" cy="256032"/>
          </a:xfrm>
          <a:prstGeom prst="rect">
            <a:avLst/>
          </a:prstGeom>
          <a:solidFill>
            <a:srgbClr val="FFF2CC"/>
          </a:solidFill>
          <a:ln w="12700">
            <a:solidFill>
              <a:srgbClr val="E0E0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5696712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1~2월 비수기 대응 조기 프로모션 기획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162E4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726180"/>
            <a:ext cx="11274552" cy="0"/>
          </a:xfrm>
          <a:prstGeom prst="line">
            <a:avLst/>
          </a:prstGeom>
          <a:noFill/>
          <a:ln w="381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45059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0" y="3063240"/>
            <a:ext cx="66751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154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 Annual Sales Report  |  분석 기준: 2025.01 ~ 2025.12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2066544" cy="1280160"/>
          </a:xfrm>
          <a:prstGeom prst="roundRect">
            <a:avLst>
              <a:gd name="adj" fmla="val 7143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20624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매출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517136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141.4억원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06624" y="4114800"/>
            <a:ext cx="2066544" cy="1280160"/>
          </a:xfrm>
          <a:prstGeom prst="roundRect">
            <a:avLst>
              <a:gd name="adj" fmla="val 7143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6624" y="420624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이익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06624" y="4517136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50.0억원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956048" y="4114800"/>
            <a:ext cx="2066544" cy="1280160"/>
          </a:xfrm>
          <a:prstGeom prst="roundRect">
            <a:avLst>
              <a:gd name="adj" fmla="val 7143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420624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이익률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6048" y="4517136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35.4%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205472" y="4114800"/>
            <a:ext cx="2066544" cy="1280160"/>
          </a:xfrm>
          <a:prstGeom prst="roundRect">
            <a:avLst>
              <a:gd name="adj" fmla="val 7143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05472" y="420624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건수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205472" y="4517136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300건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454896" y="4114800"/>
            <a:ext cx="2066544" cy="1280160"/>
          </a:xfrm>
          <a:prstGeom prst="roundRect">
            <a:avLst>
              <a:gd name="adj" fmla="val 7143"/>
            </a:avLst>
          </a:prstGeom>
          <a:solidFill>
            <a:srgbClr val="244F7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54896" y="4206240"/>
            <a:ext cx="2066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거래처 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454896" y="4517136"/>
            <a:ext cx="20665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15개사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0" y="6510528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Powered by Claude AI  ·  2026.04.14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2025 연간 매출 분석 보고서</dc:subject>
  <dc:creator>Claude</dc:creator>
  <cp:lastModifiedBy>Claude</cp:lastModifiedBy>
  <cp:revision>1</cp:revision>
  <dcterms:created xsi:type="dcterms:W3CDTF">2026-04-14T04:50:22Z</dcterms:created>
  <dcterms:modified xsi:type="dcterms:W3CDTF">2026-04-14T04:50:22Z</dcterms:modified>
</cp:coreProperties>
</file>